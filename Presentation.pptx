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image" Target="../media/image-8-10.png"/><Relationship Id="rId11" Type="http://schemas.openxmlformats.org/officeDocument/2006/relationships/image" Target="../media/image-8-11.svg"/><Relationship Id="rId12" Type="http://schemas.openxmlformats.org/officeDocument/2006/relationships/image" Target="../media/image-8-12.png"/><Relationship Id="rId13" Type="http://schemas.openxmlformats.org/officeDocument/2006/relationships/image" Target="../media/image-8-13.svg"/><Relationship Id="rId14" Type="http://schemas.openxmlformats.org/officeDocument/2006/relationships/slideLayout" Target="../slideLayouts/slideLayout9.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sv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svg"/><Relationship Id="rId19" Type="http://schemas.openxmlformats.org/officeDocument/2006/relationships/slideLayout" Target="../slideLayouts/slideLayout11.xml"/><Relationship Id="rId2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slideLayout" Target="../slideLayouts/slideLayout13.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slideLayout" Target="../slideLayouts/slideLayout14.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20203"/>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AgroBot: The Universal AI-Based Agricultural Assistant</a:t>
            </a:r>
            <a:endParaRPr lang="en-US" sz="4450" dirty="0"/>
          </a:p>
        </p:txBody>
      </p:sp>
      <p:sp>
        <p:nvSpPr>
          <p:cNvPr id="4" name="Text 1"/>
          <p:cNvSpPr/>
          <p:nvPr/>
        </p:nvSpPr>
        <p:spPr>
          <a:xfrm>
            <a:off x="6620351" y="3633073"/>
            <a:ext cx="7216259" cy="2721054"/>
          </a:xfrm>
          <a:prstGeom prst="rect">
            <a:avLst/>
          </a:prstGeom>
          <a:noFill/>
          <a:ln/>
        </p:spPr>
        <p:txBody>
          <a:bodyPr wrap="square" lIns="0" tIns="0" rIns="0" bIns="0" rtlCol="0" anchor="t"/>
          <a:lstStyle/>
          <a:p>
            <a:pPr algn="l" indent="0" marL="0">
              <a:lnSpc>
                <a:spcPts val="3550"/>
              </a:lnSpc>
              <a:buNone/>
            </a:pPr>
            <a:r>
              <a:rPr lang="en-US" sz="2200" dirty="0">
                <a:solidFill>
                  <a:srgbClr val="2B2E3C"/>
                </a:solidFill>
                <a:latin typeface="Open Sans" pitchFamily="34" charset="0"/>
                <a:ea typeface="Open Sans" pitchFamily="34" charset="-122"/>
                <a:cs typeface="Open Sans" pitchFamily="34" charset="-120"/>
              </a:rPr>
              <a:t>A Smart Conversational System designed to empower farmers by providing instant agricultural guidance, crop management support, and plant disease analysis using Artificial Intelligence (AI), Natural Language Processing (NLP), and Computer Vision (CV) technologies.</a:t>
            </a:r>
            <a:endParaRPr lang="en-US" sz="2200" dirty="0"/>
          </a:p>
        </p:txBody>
      </p:sp>
      <p:sp>
        <p:nvSpPr>
          <p:cNvPr id="5" name="Shape 2"/>
          <p:cNvSpPr/>
          <p:nvPr/>
        </p:nvSpPr>
        <p:spPr>
          <a:xfrm>
            <a:off x="6280190" y="3377922"/>
            <a:ext cx="30480" cy="3231356"/>
          </a:xfrm>
          <a:prstGeom prst="rect">
            <a:avLst/>
          </a:prstGeom>
          <a:solidFill>
            <a:srgbClr val="D26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92574" y="639485"/>
            <a:ext cx="6226254" cy="528995"/>
          </a:xfrm>
          <a:prstGeom prst="rect">
            <a:avLst/>
          </a:prstGeom>
          <a:noFill/>
          <a:ln/>
        </p:spPr>
        <p:txBody>
          <a:bodyPr wrap="none" lIns="0" tIns="0" rIns="0" bIns="0" rtlCol="0" anchor="t"/>
          <a:lstStyle/>
          <a:p>
            <a:pPr algn="l" indent="0" marL="0">
              <a:lnSpc>
                <a:spcPts val="4150"/>
              </a:lnSpc>
              <a:buNone/>
            </a:pPr>
            <a:r>
              <a:rPr lang="en-US" sz="3300" dirty="0">
                <a:solidFill>
                  <a:srgbClr val="2C3F42"/>
                </a:solidFill>
                <a:latin typeface="Bitter Medium" pitchFamily="34" charset="0"/>
                <a:ea typeface="Bitter Medium" pitchFamily="34" charset="-122"/>
                <a:cs typeface="Bitter Medium" pitchFamily="34" charset="-120"/>
              </a:rPr>
              <a:t>The Power Behind the Assistant</a:t>
            </a:r>
            <a:endParaRPr lang="en-US" sz="3300" dirty="0"/>
          </a:p>
        </p:txBody>
      </p:sp>
      <p:sp>
        <p:nvSpPr>
          <p:cNvPr id="4" name="Text 1"/>
          <p:cNvSpPr/>
          <p:nvPr/>
        </p:nvSpPr>
        <p:spPr>
          <a:xfrm>
            <a:off x="592574" y="1236107"/>
            <a:ext cx="7812167" cy="423267"/>
          </a:xfrm>
          <a:prstGeom prst="rect">
            <a:avLst/>
          </a:prstGeom>
          <a:noFill/>
          <a:ln/>
        </p:spPr>
        <p:txBody>
          <a:bodyPr wrap="none" lIns="0" tIns="0" rIns="0" bIns="0" rtlCol="0" anchor="t"/>
          <a:lstStyle/>
          <a:p>
            <a:pPr algn="l" indent="0" marL="0">
              <a:lnSpc>
                <a:spcPts val="3300"/>
              </a:lnSpc>
              <a:buNone/>
            </a:pPr>
            <a:r>
              <a:rPr lang="en-US" sz="2650" dirty="0">
                <a:solidFill>
                  <a:srgbClr val="2C3F42"/>
                </a:solidFill>
                <a:latin typeface="Bitter Medium" pitchFamily="34" charset="0"/>
                <a:ea typeface="Bitter Medium" pitchFamily="34" charset="-122"/>
                <a:cs typeface="Bitter Medium" pitchFamily="34" charset="-120"/>
              </a:rPr>
              <a:t>AgroBot-Universal: A Smart Web-Based Assistant</a:t>
            </a:r>
            <a:endParaRPr lang="en-US" sz="2650" dirty="0"/>
          </a:p>
        </p:txBody>
      </p:sp>
      <p:sp>
        <p:nvSpPr>
          <p:cNvPr id="5" name="Shape 2"/>
          <p:cNvSpPr/>
          <p:nvPr/>
        </p:nvSpPr>
        <p:spPr>
          <a:xfrm>
            <a:off x="592574" y="1913334"/>
            <a:ext cx="7958852" cy="1292185"/>
          </a:xfrm>
          <a:prstGeom prst="roundRect">
            <a:avLst>
              <a:gd name="adj" fmla="val 8492"/>
            </a:avLst>
          </a:prstGeom>
          <a:solidFill>
            <a:srgbClr val="FFF8F0"/>
          </a:solidFill>
          <a:ln w="22860">
            <a:solidFill>
              <a:srgbClr val="E2C8B5"/>
            </a:solidFill>
            <a:prstDash val="solid"/>
          </a:ln>
        </p:spPr>
      </p:sp>
      <p:sp>
        <p:nvSpPr>
          <p:cNvPr id="6" name="Shape 3"/>
          <p:cNvSpPr/>
          <p:nvPr/>
        </p:nvSpPr>
        <p:spPr>
          <a:xfrm>
            <a:off x="569714" y="1913334"/>
            <a:ext cx="91440" cy="1292185"/>
          </a:xfrm>
          <a:prstGeom prst="roundRect">
            <a:avLst>
              <a:gd name="adj" fmla="val 77766"/>
            </a:avLst>
          </a:prstGeom>
          <a:solidFill>
            <a:srgbClr val="D2600F"/>
          </a:solidFill>
          <a:ln/>
        </p:spPr>
      </p:sp>
      <p:sp>
        <p:nvSpPr>
          <p:cNvPr id="7" name="Text 4"/>
          <p:cNvSpPr/>
          <p:nvPr/>
        </p:nvSpPr>
        <p:spPr>
          <a:xfrm>
            <a:off x="853321" y="2105501"/>
            <a:ext cx="3906322" cy="264557"/>
          </a:xfrm>
          <a:prstGeom prst="rect">
            <a:avLst/>
          </a:prstGeom>
          <a:noFill/>
          <a:ln/>
        </p:spPr>
        <p:txBody>
          <a:bodyPr wrap="none" lIns="0" tIns="0" rIns="0" bIns="0" rtlCol="0" anchor="t"/>
          <a:lstStyle/>
          <a:p>
            <a:pPr algn="l" indent="0" marL="0">
              <a:lnSpc>
                <a:spcPts val="2050"/>
              </a:lnSpc>
              <a:buNone/>
            </a:pPr>
            <a:r>
              <a:rPr lang="en-US" sz="1650" dirty="0">
                <a:solidFill>
                  <a:srgbClr val="2B2E3C"/>
                </a:solidFill>
                <a:latin typeface="Bitter Medium" pitchFamily="34" charset="0"/>
                <a:ea typeface="Bitter Medium" pitchFamily="34" charset="-122"/>
                <a:cs typeface="Bitter Medium" pitchFamily="34" charset="-120"/>
              </a:rPr>
              <a:t>Instant Answers &amp; Multilingual Support</a:t>
            </a:r>
            <a:endParaRPr lang="en-US" sz="1650" dirty="0"/>
          </a:p>
        </p:txBody>
      </p:sp>
      <p:sp>
        <p:nvSpPr>
          <p:cNvPr id="8" name="Text 5"/>
          <p:cNvSpPr/>
          <p:nvPr/>
        </p:nvSpPr>
        <p:spPr>
          <a:xfrm>
            <a:off x="853321" y="2471618"/>
            <a:ext cx="7505938" cy="541734"/>
          </a:xfrm>
          <a:prstGeom prst="rect">
            <a:avLst/>
          </a:prstGeom>
          <a:noFill/>
          <a:ln/>
        </p:spPr>
        <p:txBody>
          <a:bodyPr wrap="square" lIns="0" tIns="0" rIns="0" bIns="0" rtlCol="0" anchor="t"/>
          <a:lstStyle/>
          <a:p>
            <a:pPr algn="l" indent="0" marL="0">
              <a:lnSpc>
                <a:spcPts val="2100"/>
              </a:lnSpc>
              <a:buNone/>
            </a:pPr>
            <a:r>
              <a:rPr lang="en-US" sz="1300" dirty="0">
                <a:solidFill>
                  <a:srgbClr val="2B2E3C"/>
                </a:solidFill>
                <a:latin typeface="Open Sans" pitchFamily="34" charset="0"/>
                <a:ea typeface="Open Sans" pitchFamily="34" charset="-122"/>
                <a:cs typeface="Open Sans" pitchFamily="34" charset="-120"/>
              </a:rPr>
              <a:t>Instantly answers questions about crops, pests, soil, irrigation, and fertilizers. Reads queries in English, Hindi, Tamil, with easy scalability for additional regional languages.</a:t>
            </a:r>
            <a:endParaRPr lang="en-US" sz="1300" dirty="0"/>
          </a:p>
        </p:txBody>
      </p:sp>
      <p:sp>
        <p:nvSpPr>
          <p:cNvPr id="9" name="Shape 6"/>
          <p:cNvSpPr/>
          <p:nvPr/>
        </p:nvSpPr>
        <p:spPr>
          <a:xfrm>
            <a:off x="592574" y="3374827"/>
            <a:ext cx="7958852" cy="1292185"/>
          </a:xfrm>
          <a:prstGeom prst="roundRect">
            <a:avLst>
              <a:gd name="adj" fmla="val 8492"/>
            </a:avLst>
          </a:prstGeom>
          <a:solidFill>
            <a:srgbClr val="FFF8F0"/>
          </a:solidFill>
          <a:ln w="22860">
            <a:solidFill>
              <a:srgbClr val="E2C8B5"/>
            </a:solidFill>
            <a:prstDash val="solid"/>
          </a:ln>
        </p:spPr>
      </p:sp>
      <p:sp>
        <p:nvSpPr>
          <p:cNvPr id="10" name="Shape 7"/>
          <p:cNvSpPr/>
          <p:nvPr/>
        </p:nvSpPr>
        <p:spPr>
          <a:xfrm>
            <a:off x="569714" y="3374827"/>
            <a:ext cx="91440" cy="1292185"/>
          </a:xfrm>
          <a:prstGeom prst="roundRect">
            <a:avLst>
              <a:gd name="adj" fmla="val 77766"/>
            </a:avLst>
          </a:prstGeom>
          <a:solidFill>
            <a:srgbClr val="D2600F"/>
          </a:solidFill>
          <a:ln/>
        </p:spPr>
      </p:sp>
      <p:sp>
        <p:nvSpPr>
          <p:cNvPr id="11" name="Text 8"/>
          <p:cNvSpPr/>
          <p:nvPr/>
        </p:nvSpPr>
        <p:spPr>
          <a:xfrm>
            <a:off x="853321" y="3566993"/>
            <a:ext cx="2446496" cy="264557"/>
          </a:xfrm>
          <a:prstGeom prst="rect">
            <a:avLst/>
          </a:prstGeom>
          <a:noFill/>
          <a:ln/>
        </p:spPr>
        <p:txBody>
          <a:bodyPr wrap="none" lIns="0" tIns="0" rIns="0" bIns="0" rtlCol="0" anchor="t"/>
          <a:lstStyle/>
          <a:p>
            <a:pPr algn="l" indent="0" marL="0">
              <a:lnSpc>
                <a:spcPts val="2050"/>
              </a:lnSpc>
              <a:buNone/>
            </a:pPr>
            <a:r>
              <a:rPr lang="en-US" sz="1650" dirty="0">
                <a:solidFill>
                  <a:srgbClr val="2B2E3C"/>
                </a:solidFill>
                <a:latin typeface="Bitter Medium" pitchFamily="34" charset="0"/>
                <a:ea typeface="Bitter Medium" pitchFamily="34" charset="-122"/>
                <a:cs typeface="Bitter Medium" pitchFamily="34" charset="-120"/>
              </a:rPr>
              <a:t>Real-Time Plant Analysis</a:t>
            </a:r>
            <a:endParaRPr lang="en-US" sz="1650" dirty="0"/>
          </a:p>
        </p:txBody>
      </p:sp>
      <p:sp>
        <p:nvSpPr>
          <p:cNvPr id="12" name="Text 9"/>
          <p:cNvSpPr/>
          <p:nvPr/>
        </p:nvSpPr>
        <p:spPr>
          <a:xfrm>
            <a:off x="853321" y="3933111"/>
            <a:ext cx="7505938" cy="541734"/>
          </a:xfrm>
          <a:prstGeom prst="rect">
            <a:avLst/>
          </a:prstGeom>
          <a:noFill/>
          <a:ln/>
        </p:spPr>
        <p:txBody>
          <a:bodyPr wrap="square" lIns="0" tIns="0" rIns="0" bIns="0" rtlCol="0" anchor="t"/>
          <a:lstStyle/>
          <a:p>
            <a:pPr algn="l" indent="0" marL="0">
              <a:lnSpc>
                <a:spcPts val="2100"/>
              </a:lnSpc>
              <a:buNone/>
            </a:pPr>
            <a:r>
              <a:rPr lang="en-US" sz="1300" dirty="0">
                <a:solidFill>
                  <a:srgbClr val="2B2E3C"/>
                </a:solidFill>
                <a:latin typeface="Open Sans" pitchFamily="34" charset="0"/>
                <a:ea typeface="Open Sans" pitchFamily="34" charset="-122"/>
                <a:cs typeface="Open Sans" pitchFamily="34" charset="-120"/>
              </a:rPr>
              <a:t>Features real-time plant/leaf image analysis for immediate detection of health issues, stress, or disease, offering quick intervention strategies.</a:t>
            </a:r>
            <a:endParaRPr lang="en-US" sz="1300" dirty="0"/>
          </a:p>
        </p:txBody>
      </p:sp>
      <p:sp>
        <p:nvSpPr>
          <p:cNvPr id="13" name="Shape 10"/>
          <p:cNvSpPr/>
          <p:nvPr/>
        </p:nvSpPr>
        <p:spPr>
          <a:xfrm>
            <a:off x="592574" y="4836319"/>
            <a:ext cx="7958852" cy="1292185"/>
          </a:xfrm>
          <a:prstGeom prst="roundRect">
            <a:avLst>
              <a:gd name="adj" fmla="val 8492"/>
            </a:avLst>
          </a:prstGeom>
          <a:solidFill>
            <a:srgbClr val="FFF8F0"/>
          </a:solidFill>
          <a:ln w="22860">
            <a:solidFill>
              <a:srgbClr val="E2C8B5"/>
            </a:solidFill>
            <a:prstDash val="solid"/>
          </a:ln>
        </p:spPr>
      </p:sp>
      <p:sp>
        <p:nvSpPr>
          <p:cNvPr id="14" name="Shape 11"/>
          <p:cNvSpPr/>
          <p:nvPr/>
        </p:nvSpPr>
        <p:spPr>
          <a:xfrm>
            <a:off x="569714" y="4836319"/>
            <a:ext cx="91440" cy="1292185"/>
          </a:xfrm>
          <a:prstGeom prst="roundRect">
            <a:avLst>
              <a:gd name="adj" fmla="val 77766"/>
            </a:avLst>
          </a:prstGeom>
          <a:solidFill>
            <a:srgbClr val="D2600F"/>
          </a:solidFill>
          <a:ln/>
        </p:spPr>
      </p:sp>
      <p:sp>
        <p:nvSpPr>
          <p:cNvPr id="15" name="Text 12"/>
          <p:cNvSpPr/>
          <p:nvPr/>
        </p:nvSpPr>
        <p:spPr>
          <a:xfrm>
            <a:off x="853321" y="5028486"/>
            <a:ext cx="2230517" cy="264557"/>
          </a:xfrm>
          <a:prstGeom prst="rect">
            <a:avLst/>
          </a:prstGeom>
          <a:noFill/>
          <a:ln/>
        </p:spPr>
        <p:txBody>
          <a:bodyPr wrap="none" lIns="0" tIns="0" rIns="0" bIns="0" rtlCol="0" anchor="t"/>
          <a:lstStyle/>
          <a:p>
            <a:pPr algn="l" indent="0" marL="0">
              <a:lnSpc>
                <a:spcPts val="2050"/>
              </a:lnSpc>
              <a:buNone/>
            </a:pPr>
            <a:r>
              <a:rPr lang="en-US" sz="1650" dirty="0">
                <a:solidFill>
                  <a:srgbClr val="2B2E3C"/>
                </a:solidFill>
                <a:latin typeface="Bitter Medium" pitchFamily="34" charset="0"/>
                <a:ea typeface="Bitter Medium" pitchFamily="34" charset="-122"/>
                <a:cs typeface="Bitter Medium" pitchFamily="34" charset="-120"/>
              </a:rPr>
              <a:t>Seamless Connectivity</a:t>
            </a:r>
            <a:endParaRPr lang="en-US" sz="1650" dirty="0"/>
          </a:p>
        </p:txBody>
      </p:sp>
      <p:sp>
        <p:nvSpPr>
          <p:cNvPr id="16" name="Text 13"/>
          <p:cNvSpPr/>
          <p:nvPr/>
        </p:nvSpPr>
        <p:spPr>
          <a:xfrm>
            <a:off x="853321" y="5394603"/>
            <a:ext cx="7505938" cy="541734"/>
          </a:xfrm>
          <a:prstGeom prst="rect">
            <a:avLst/>
          </a:prstGeom>
          <a:noFill/>
          <a:ln/>
        </p:spPr>
        <p:txBody>
          <a:bodyPr wrap="square" lIns="0" tIns="0" rIns="0" bIns="0" rtlCol="0" anchor="t"/>
          <a:lstStyle/>
          <a:p>
            <a:pPr algn="l" indent="0" marL="0">
              <a:lnSpc>
                <a:spcPts val="2100"/>
              </a:lnSpc>
              <a:buNone/>
            </a:pPr>
            <a:r>
              <a:rPr lang="en-US" sz="1300" dirty="0">
                <a:solidFill>
                  <a:srgbClr val="2B2E3C"/>
                </a:solidFill>
                <a:latin typeface="Open Sans" pitchFamily="34" charset="0"/>
                <a:ea typeface="Open Sans" pitchFamily="34" charset="-122"/>
                <a:cs typeface="Open Sans" pitchFamily="34" charset="-120"/>
              </a:rPr>
              <a:t>Works effectively offline using an integrated knowledge base, with an automatic OpenAI fallback for complex or new queries when online.</a:t>
            </a:r>
            <a:endParaRPr lang="en-US" sz="1300" dirty="0"/>
          </a:p>
        </p:txBody>
      </p:sp>
      <p:sp>
        <p:nvSpPr>
          <p:cNvPr id="17" name="Shape 14"/>
          <p:cNvSpPr/>
          <p:nvPr/>
        </p:nvSpPr>
        <p:spPr>
          <a:xfrm>
            <a:off x="592574" y="6297811"/>
            <a:ext cx="7958852" cy="1292185"/>
          </a:xfrm>
          <a:prstGeom prst="roundRect">
            <a:avLst>
              <a:gd name="adj" fmla="val 8492"/>
            </a:avLst>
          </a:prstGeom>
          <a:solidFill>
            <a:srgbClr val="FFF8F0"/>
          </a:solidFill>
          <a:ln w="22860">
            <a:solidFill>
              <a:srgbClr val="E2C8B5"/>
            </a:solidFill>
            <a:prstDash val="solid"/>
          </a:ln>
        </p:spPr>
      </p:sp>
      <p:sp>
        <p:nvSpPr>
          <p:cNvPr id="18" name="Shape 15"/>
          <p:cNvSpPr/>
          <p:nvPr/>
        </p:nvSpPr>
        <p:spPr>
          <a:xfrm>
            <a:off x="569714" y="6297811"/>
            <a:ext cx="91440" cy="1292185"/>
          </a:xfrm>
          <a:prstGeom prst="roundRect">
            <a:avLst>
              <a:gd name="adj" fmla="val 77766"/>
            </a:avLst>
          </a:prstGeom>
          <a:solidFill>
            <a:srgbClr val="D2600F"/>
          </a:solidFill>
          <a:ln/>
        </p:spPr>
      </p:sp>
      <p:sp>
        <p:nvSpPr>
          <p:cNvPr id="19" name="Text 16"/>
          <p:cNvSpPr/>
          <p:nvPr/>
        </p:nvSpPr>
        <p:spPr>
          <a:xfrm>
            <a:off x="853321" y="6489978"/>
            <a:ext cx="2844641" cy="264557"/>
          </a:xfrm>
          <a:prstGeom prst="rect">
            <a:avLst/>
          </a:prstGeom>
          <a:noFill/>
          <a:ln/>
        </p:spPr>
        <p:txBody>
          <a:bodyPr wrap="none" lIns="0" tIns="0" rIns="0" bIns="0" rtlCol="0" anchor="t"/>
          <a:lstStyle/>
          <a:p>
            <a:pPr algn="l" indent="0" marL="0">
              <a:lnSpc>
                <a:spcPts val="2050"/>
              </a:lnSpc>
              <a:buNone/>
            </a:pPr>
            <a:r>
              <a:rPr lang="en-US" sz="1650" dirty="0">
                <a:solidFill>
                  <a:srgbClr val="2B2E3C"/>
                </a:solidFill>
                <a:latin typeface="Bitter Medium" pitchFamily="34" charset="0"/>
                <a:ea typeface="Bitter Medium" pitchFamily="34" charset="-122"/>
                <a:cs typeface="Bitter Medium" pitchFamily="34" charset="-120"/>
              </a:rPr>
              <a:t>Administrative Management</a:t>
            </a:r>
            <a:endParaRPr lang="en-US" sz="1650" dirty="0"/>
          </a:p>
        </p:txBody>
      </p:sp>
      <p:sp>
        <p:nvSpPr>
          <p:cNvPr id="20" name="Text 17"/>
          <p:cNvSpPr/>
          <p:nvPr/>
        </p:nvSpPr>
        <p:spPr>
          <a:xfrm>
            <a:off x="853321" y="6856095"/>
            <a:ext cx="7505938" cy="541734"/>
          </a:xfrm>
          <a:prstGeom prst="rect">
            <a:avLst/>
          </a:prstGeom>
          <a:noFill/>
          <a:ln/>
        </p:spPr>
        <p:txBody>
          <a:bodyPr wrap="square" lIns="0" tIns="0" rIns="0" bIns="0" rtlCol="0" anchor="t"/>
          <a:lstStyle/>
          <a:p>
            <a:pPr algn="l" indent="0" marL="0">
              <a:lnSpc>
                <a:spcPts val="2100"/>
              </a:lnSpc>
              <a:buNone/>
            </a:pPr>
            <a:r>
              <a:rPr lang="en-US" sz="1300" dirty="0">
                <a:solidFill>
                  <a:srgbClr val="2B2E3C"/>
                </a:solidFill>
                <a:latin typeface="Open Sans" pitchFamily="34" charset="0"/>
                <a:ea typeface="Open Sans" pitchFamily="34" charset="-122"/>
                <a:cs typeface="Open Sans" pitchFamily="34" charset="-120"/>
              </a:rPr>
              <a:t>Includes user login, a comprehensive admin dashboard, and CSV/JSON knowledge base import for easy content updates and system maintenance.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69463" y="368856"/>
            <a:ext cx="7695009" cy="419219"/>
          </a:xfrm>
          <a:prstGeom prst="rect">
            <a:avLst/>
          </a:prstGeom>
          <a:noFill/>
          <a:ln/>
        </p:spPr>
        <p:txBody>
          <a:bodyPr wrap="none" lIns="0" tIns="0" rIns="0" bIns="0" rtlCol="0" anchor="t"/>
          <a:lstStyle/>
          <a:p>
            <a:pPr algn="l" indent="0" marL="0">
              <a:lnSpc>
                <a:spcPts val="3300"/>
              </a:lnSpc>
              <a:buNone/>
            </a:pPr>
            <a:r>
              <a:rPr lang="en-US" sz="2600" dirty="0">
                <a:solidFill>
                  <a:srgbClr val="2C3F42"/>
                </a:solidFill>
                <a:latin typeface="Bitter Medium" pitchFamily="34" charset="0"/>
                <a:ea typeface="Bitter Medium" pitchFamily="34" charset="-122"/>
                <a:cs typeface="Bitter Medium" pitchFamily="34" charset="-120"/>
              </a:rPr>
              <a:t>The Farming Challenge Today: Why AI is Essential</a:t>
            </a:r>
            <a:endParaRPr lang="en-US" sz="2600" dirty="0"/>
          </a:p>
        </p:txBody>
      </p:sp>
      <p:pic>
        <p:nvPicPr>
          <p:cNvPr id="3" name="Image 0" descr="preencoded.png">    </p:cNvPr>
          <p:cNvPicPr>
            <a:picLocks noChangeAspect="1"/>
          </p:cNvPicPr>
          <p:nvPr/>
        </p:nvPicPr>
        <p:blipFill>
          <a:blip r:embed="rId1"/>
          <a:stretch>
            <a:fillRect/>
          </a:stretch>
        </p:blipFill>
        <p:spPr>
          <a:xfrm>
            <a:off x="469463" y="1140023"/>
            <a:ext cx="6682145" cy="6682145"/>
          </a:xfrm>
          <a:prstGeom prst="rect">
            <a:avLst/>
          </a:prstGeom>
        </p:spPr>
      </p:pic>
      <p:sp>
        <p:nvSpPr>
          <p:cNvPr id="4" name="Text 1"/>
          <p:cNvSpPr/>
          <p:nvPr/>
        </p:nvSpPr>
        <p:spPr>
          <a:xfrm>
            <a:off x="469463" y="7973020"/>
            <a:ext cx="2080974" cy="251460"/>
          </a:xfrm>
          <a:prstGeom prst="rect">
            <a:avLst/>
          </a:prstGeom>
          <a:noFill/>
          <a:ln/>
        </p:spPr>
        <p:txBody>
          <a:bodyPr wrap="none" lIns="0" tIns="0" rIns="0" bIns="0" rtlCol="0" anchor="t"/>
          <a:lstStyle/>
          <a:p>
            <a:pPr algn="l" indent="0" marL="0">
              <a:lnSpc>
                <a:spcPts val="1950"/>
              </a:lnSpc>
              <a:buNone/>
            </a:pPr>
            <a:r>
              <a:rPr lang="en-US" sz="1550" dirty="0">
                <a:solidFill>
                  <a:srgbClr val="2C3F42"/>
                </a:solidFill>
                <a:latin typeface="Bitter Medium" pitchFamily="34" charset="0"/>
                <a:ea typeface="Bitter Medium" pitchFamily="34" charset="-122"/>
                <a:cs typeface="Bitter Medium" pitchFamily="34" charset="-120"/>
              </a:rPr>
              <a:t>Surging Food Demand</a:t>
            </a:r>
            <a:endParaRPr lang="en-US" sz="1550" dirty="0"/>
          </a:p>
        </p:txBody>
      </p:sp>
      <p:sp>
        <p:nvSpPr>
          <p:cNvPr id="5" name="Text 2"/>
          <p:cNvSpPr/>
          <p:nvPr/>
        </p:nvSpPr>
        <p:spPr>
          <a:xfrm>
            <a:off x="469463" y="8358545"/>
            <a:ext cx="6682145" cy="429339"/>
          </a:xfrm>
          <a:prstGeom prst="rect">
            <a:avLst/>
          </a:prstGeom>
          <a:noFill/>
          <a:ln/>
        </p:spPr>
        <p:txBody>
          <a:bodyPr wrap="square" lIns="0" tIns="0" rIns="0" bIns="0" rtlCol="0" anchor="t"/>
          <a:lstStyle/>
          <a:p>
            <a:pPr algn="l" indent="0" marL="0">
              <a:lnSpc>
                <a:spcPts val="1650"/>
              </a:lnSpc>
              <a:buNone/>
            </a:pPr>
            <a:r>
              <a:rPr lang="en-US" sz="1050" dirty="0">
                <a:solidFill>
                  <a:srgbClr val="2B2E3C"/>
                </a:solidFill>
                <a:latin typeface="Open Sans" pitchFamily="34" charset="0"/>
                <a:ea typeface="Open Sans" pitchFamily="34" charset="-122"/>
                <a:cs typeface="Open Sans" pitchFamily="34" charset="-120"/>
              </a:rPr>
              <a:t>The global population is projected to reach 9 billion by 2050, requiring a massive surge in food production capacity worldwide.</a:t>
            </a:r>
            <a:endParaRPr lang="en-US" sz="1050" dirty="0"/>
          </a:p>
        </p:txBody>
      </p:sp>
      <p:pic>
        <p:nvPicPr>
          <p:cNvPr id="6" name="Image 1" descr="preencoded.png">    </p:cNvPr>
          <p:cNvPicPr>
            <a:picLocks noChangeAspect="1"/>
          </p:cNvPicPr>
          <p:nvPr/>
        </p:nvPicPr>
        <p:blipFill>
          <a:blip r:embed="rId2"/>
          <a:stretch>
            <a:fillRect/>
          </a:stretch>
        </p:blipFill>
        <p:spPr>
          <a:xfrm>
            <a:off x="7486412" y="1140023"/>
            <a:ext cx="6682145" cy="6682145"/>
          </a:xfrm>
          <a:prstGeom prst="rect">
            <a:avLst/>
          </a:prstGeom>
        </p:spPr>
      </p:pic>
      <p:sp>
        <p:nvSpPr>
          <p:cNvPr id="7" name="Text 3"/>
          <p:cNvSpPr/>
          <p:nvPr/>
        </p:nvSpPr>
        <p:spPr>
          <a:xfrm>
            <a:off x="7486412" y="7973020"/>
            <a:ext cx="2614732" cy="251460"/>
          </a:xfrm>
          <a:prstGeom prst="rect">
            <a:avLst/>
          </a:prstGeom>
          <a:noFill/>
          <a:ln/>
        </p:spPr>
        <p:txBody>
          <a:bodyPr wrap="none" lIns="0" tIns="0" rIns="0" bIns="0" rtlCol="0" anchor="t"/>
          <a:lstStyle/>
          <a:p>
            <a:pPr algn="l" indent="0" marL="0">
              <a:lnSpc>
                <a:spcPts val="1950"/>
              </a:lnSpc>
              <a:buNone/>
            </a:pPr>
            <a:r>
              <a:rPr lang="en-US" sz="1550" dirty="0">
                <a:solidFill>
                  <a:srgbClr val="2C3F42"/>
                </a:solidFill>
                <a:latin typeface="Bitter Medium" pitchFamily="34" charset="0"/>
                <a:ea typeface="Bitter Medium" pitchFamily="34" charset="-122"/>
                <a:cs typeface="Bitter Medium" pitchFamily="34" charset="-120"/>
              </a:rPr>
              <a:t>Climate &amp; Resource Scarcity</a:t>
            </a:r>
            <a:endParaRPr lang="en-US" sz="1550" dirty="0"/>
          </a:p>
        </p:txBody>
      </p:sp>
      <p:sp>
        <p:nvSpPr>
          <p:cNvPr id="8" name="Text 4"/>
          <p:cNvSpPr/>
          <p:nvPr/>
        </p:nvSpPr>
        <p:spPr>
          <a:xfrm>
            <a:off x="7486412" y="8358545"/>
            <a:ext cx="6682145" cy="429339"/>
          </a:xfrm>
          <a:prstGeom prst="rect">
            <a:avLst/>
          </a:prstGeom>
          <a:noFill/>
          <a:ln/>
        </p:spPr>
        <p:txBody>
          <a:bodyPr wrap="square" lIns="0" tIns="0" rIns="0" bIns="0" rtlCol="0" anchor="t"/>
          <a:lstStyle/>
          <a:p>
            <a:pPr algn="l" indent="0" marL="0">
              <a:lnSpc>
                <a:spcPts val="1650"/>
              </a:lnSpc>
              <a:buNone/>
            </a:pPr>
            <a:r>
              <a:rPr lang="en-US" sz="1050" dirty="0">
                <a:solidFill>
                  <a:srgbClr val="2B2E3C"/>
                </a:solidFill>
                <a:latin typeface="Open Sans" pitchFamily="34" charset="0"/>
                <a:ea typeface="Open Sans" pitchFamily="34" charset="-122"/>
                <a:cs typeface="Open Sans" pitchFamily="34" charset="-120"/>
              </a:rPr>
              <a:t>Climate change, combined with increasing resource scarcity, threatens crop yields and agricultural stability across the globe.</a:t>
            </a:r>
            <a:endParaRPr lang="en-US" sz="1050" dirty="0"/>
          </a:p>
        </p:txBody>
      </p:sp>
      <p:sp>
        <p:nvSpPr>
          <p:cNvPr id="9" name="Text 5"/>
          <p:cNvSpPr/>
          <p:nvPr/>
        </p:nvSpPr>
        <p:spPr>
          <a:xfrm>
            <a:off x="670560" y="9210199"/>
            <a:ext cx="13490377" cy="214670"/>
          </a:xfrm>
          <a:prstGeom prst="rect">
            <a:avLst/>
          </a:prstGeom>
          <a:noFill/>
          <a:ln/>
        </p:spPr>
        <p:txBody>
          <a:bodyPr wrap="none" lIns="0" tIns="0" rIns="0" bIns="0" rtlCol="0" anchor="t"/>
          <a:lstStyle/>
          <a:p>
            <a:pPr algn="l" indent="0" marL="0">
              <a:lnSpc>
                <a:spcPts val="1650"/>
              </a:lnSpc>
              <a:buNone/>
            </a:pPr>
            <a:r>
              <a:rPr lang="en-US" sz="1050" dirty="0">
                <a:solidFill>
                  <a:srgbClr val="2B2E3C"/>
                </a:solidFill>
                <a:latin typeface="Open Sans" pitchFamily="34" charset="0"/>
                <a:ea typeface="Open Sans" pitchFamily="34" charset="-122"/>
                <a:cs typeface="Open Sans" pitchFamily="34" charset="-120"/>
              </a:rPr>
              <a:t>Traditional farming methods are often labor-intensive, costly, and lack the precision needed to meet modern challenges efficiently.</a:t>
            </a:r>
            <a:endParaRPr lang="en-US" sz="1050" dirty="0"/>
          </a:p>
        </p:txBody>
      </p:sp>
      <p:sp>
        <p:nvSpPr>
          <p:cNvPr id="10" name="Shape 6"/>
          <p:cNvSpPr/>
          <p:nvPr/>
        </p:nvSpPr>
        <p:spPr>
          <a:xfrm>
            <a:off x="469463" y="9059347"/>
            <a:ext cx="15240" cy="516374"/>
          </a:xfrm>
          <a:prstGeom prst="rect">
            <a:avLst/>
          </a:prstGeom>
          <a:solidFill>
            <a:srgbClr val="D2600F"/>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76143"/>
          </a:xfrm>
          <a:prstGeom prst="rect">
            <a:avLst/>
          </a:prstGeom>
        </p:spPr>
      </p:pic>
      <p:sp>
        <p:nvSpPr>
          <p:cNvPr id="3" name="Text 0"/>
          <p:cNvSpPr/>
          <p:nvPr/>
        </p:nvSpPr>
        <p:spPr>
          <a:xfrm>
            <a:off x="693301" y="3177897"/>
            <a:ext cx="8240316" cy="619125"/>
          </a:xfrm>
          <a:prstGeom prst="rect">
            <a:avLst/>
          </a:prstGeom>
          <a:noFill/>
          <a:ln/>
        </p:spPr>
        <p:txBody>
          <a:bodyPr wrap="none" lIns="0" tIns="0" rIns="0" bIns="0" rtlCol="0" anchor="t"/>
          <a:lstStyle/>
          <a:p>
            <a:pPr algn="l" indent="0" marL="0">
              <a:lnSpc>
                <a:spcPts val="4850"/>
              </a:lnSpc>
              <a:buNone/>
            </a:pPr>
            <a:r>
              <a:rPr lang="en-US" sz="3850" dirty="0">
                <a:solidFill>
                  <a:srgbClr val="2C3F42"/>
                </a:solidFill>
                <a:latin typeface="Bitter Medium" pitchFamily="34" charset="0"/>
                <a:ea typeface="Bitter Medium" pitchFamily="34" charset="-122"/>
                <a:cs typeface="Bitter Medium" pitchFamily="34" charset="-120"/>
              </a:rPr>
              <a:t>Enter AgroBot: AI Meets Agriculture</a:t>
            </a:r>
            <a:endParaRPr lang="en-US" sz="3850" dirty="0"/>
          </a:p>
        </p:txBody>
      </p:sp>
      <p:sp>
        <p:nvSpPr>
          <p:cNvPr id="4" name="Shape 1"/>
          <p:cNvSpPr/>
          <p:nvPr/>
        </p:nvSpPr>
        <p:spPr>
          <a:xfrm>
            <a:off x="693301" y="4094083"/>
            <a:ext cx="4282559" cy="594241"/>
          </a:xfrm>
          <a:prstGeom prst="roundRect">
            <a:avLst>
              <a:gd name="adj" fmla="val 480041"/>
            </a:avLst>
          </a:prstGeom>
          <a:solidFill>
            <a:srgbClr val="FCE2CF"/>
          </a:solidFill>
          <a:ln w="7620">
            <a:solidFill>
              <a:srgbClr val="E2C8B5"/>
            </a:solidFill>
            <a:prstDash val="solid"/>
          </a:ln>
        </p:spPr>
      </p:sp>
      <p:sp>
        <p:nvSpPr>
          <p:cNvPr id="5" name="Text 2"/>
          <p:cNvSpPr/>
          <p:nvPr/>
        </p:nvSpPr>
        <p:spPr>
          <a:xfrm>
            <a:off x="2686050" y="4205526"/>
            <a:ext cx="297061" cy="371356"/>
          </a:xfrm>
          <a:prstGeom prst="rect">
            <a:avLst/>
          </a:prstGeom>
          <a:noFill/>
          <a:ln/>
        </p:spPr>
        <p:txBody>
          <a:bodyPr wrap="none" lIns="0" tIns="0" rIns="0" bIns="0" rtlCol="0" anchor="t"/>
          <a:lstStyle/>
          <a:p>
            <a:pPr algn="l" indent="0" marL="0">
              <a:lnSpc>
                <a:spcPts val="2300"/>
              </a:lnSpc>
              <a:buNone/>
            </a:pPr>
            <a:r>
              <a:rPr lang="en-US" sz="2300" dirty="0">
                <a:solidFill>
                  <a:srgbClr val="2B2E3C"/>
                </a:solidFill>
                <a:latin typeface="Bitter Medium" pitchFamily="34" charset="0"/>
                <a:ea typeface="Bitter Medium" pitchFamily="34" charset="-122"/>
                <a:cs typeface="Bitter Medium" pitchFamily="34" charset="-120"/>
              </a:rPr>
              <a:t>1</a:t>
            </a:r>
            <a:endParaRPr lang="en-US" sz="2300" dirty="0"/>
          </a:p>
        </p:txBody>
      </p:sp>
      <p:sp>
        <p:nvSpPr>
          <p:cNvPr id="6" name="Text 3"/>
          <p:cNvSpPr/>
          <p:nvPr/>
        </p:nvSpPr>
        <p:spPr>
          <a:xfrm>
            <a:off x="891302" y="4886325"/>
            <a:ext cx="2476143" cy="309563"/>
          </a:xfrm>
          <a:prstGeom prst="rect">
            <a:avLst/>
          </a:prstGeom>
          <a:noFill/>
          <a:ln/>
        </p:spPr>
        <p:txBody>
          <a:bodyPr wrap="none" lIns="0" tIns="0" rIns="0" bIns="0" rtlCol="0" anchor="t"/>
          <a:lstStyle/>
          <a:p>
            <a:pPr algn="l" indent="0" marL="0">
              <a:lnSpc>
                <a:spcPts val="2400"/>
              </a:lnSpc>
              <a:buNone/>
            </a:pPr>
            <a:r>
              <a:rPr lang="en-US" sz="1900" dirty="0">
                <a:solidFill>
                  <a:srgbClr val="2B2E3C"/>
                </a:solidFill>
                <a:latin typeface="Bitter Medium" pitchFamily="34" charset="0"/>
                <a:ea typeface="Bitter Medium" pitchFamily="34" charset="-122"/>
                <a:cs typeface="Bitter Medium" pitchFamily="34" charset="-120"/>
              </a:rPr>
              <a:t>AI-Powered Chatbot</a:t>
            </a:r>
            <a:endParaRPr lang="en-US" sz="1900" dirty="0"/>
          </a:p>
        </p:txBody>
      </p:sp>
      <p:sp>
        <p:nvSpPr>
          <p:cNvPr id="7" name="Text 4"/>
          <p:cNvSpPr/>
          <p:nvPr/>
        </p:nvSpPr>
        <p:spPr>
          <a:xfrm>
            <a:off x="891302" y="5314712"/>
            <a:ext cx="3886557" cy="950833"/>
          </a:xfrm>
          <a:prstGeom prst="rect">
            <a:avLst/>
          </a:prstGeom>
          <a:noFill/>
          <a:ln/>
        </p:spPr>
        <p:txBody>
          <a:bodyPr wrap="square" lIns="0" tIns="0" rIns="0" bIns="0" rtlCol="0" anchor="t"/>
          <a:lstStyle/>
          <a:p>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A specialized assistant tailored precisely for the immediate, practical needs of farmers.</a:t>
            </a:r>
            <a:endParaRPr lang="en-US" sz="1550" dirty="0"/>
          </a:p>
        </p:txBody>
      </p:sp>
      <p:sp>
        <p:nvSpPr>
          <p:cNvPr id="8" name="Shape 5"/>
          <p:cNvSpPr/>
          <p:nvPr/>
        </p:nvSpPr>
        <p:spPr>
          <a:xfrm>
            <a:off x="5173861" y="4094083"/>
            <a:ext cx="4282559" cy="594241"/>
          </a:xfrm>
          <a:prstGeom prst="roundRect">
            <a:avLst>
              <a:gd name="adj" fmla="val 480041"/>
            </a:avLst>
          </a:prstGeom>
          <a:solidFill>
            <a:srgbClr val="FCE2CF"/>
          </a:solidFill>
          <a:ln w="7620">
            <a:solidFill>
              <a:srgbClr val="E2C8B5"/>
            </a:solidFill>
            <a:prstDash val="solid"/>
          </a:ln>
        </p:spPr>
      </p:sp>
      <p:sp>
        <p:nvSpPr>
          <p:cNvPr id="9" name="Text 6"/>
          <p:cNvSpPr/>
          <p:nvPr/>
        </p:nvSpPr>
        <p:spPr>
          <a:xfrm>
            <a:off x="7166610" y="4205526"/>
            <a:ext cx="297061" cy="371356"/>
          </a:xfrm>
          <a:prstGeom prst="rect">
            <a:avLst/>
          </a:prstGeom>
          <a:noFill/>
          <a:ln/>
        </p:spPr>
        <p:txBody>
          <a:bodyPr wrap="none" lIns="0" tIns="0" rIns="0" bIns="0" rtlCol="0" anchor="t"/>
          <a:lstStyle/>
          <a:p>
            <a:pPr algn="l" indent="0" marL="0">
              <a:lnSpc>
                <a:spcPts val="2300"/>
              </a:lnSpc>
              <a:buNone/>
            </a:pPr>
            <a:r>
              <a:rPr lang="en-US" sz="2300" dirty="0">
                <a:solidFill>
                  <a:srgbClr val="2B2E3C"/>
                </a:solidFill>
                <a:latin typeface="Bitter Medium" pitchFamily="34" charset="0"/>
                <a:ea typeface="Bitter Medium" pitchFamily="34" charset="-122"/>
                <a:cs typeface="Bitter Medium" pitchFamily="34" charset="-120"/>
              </a:rPr>
              <a:t>2</a:t>
            </a:r>
            <a:endParaRPr lang="en-US" sz="2300" dirty="0"/>
          </a:p>
        </p:txBody>
      </p:sp>
      <p:sp>
        <p:nvSpPr>
          <p:cNvPr id="10" name="Text 7"/>
          <p:cNvSpPr/>
          <p:nvPr/>
        </p:nvSpPr>
        <p:spPr>
          <a:xfrm>
            <a:off x="5371862" y="4886325"/>
            <a:ext cx="2603063" cy="309563"/>
          </a:xfrm>
          <a:prstGeom prst="rect">
            <a:avLst/>
          </a:prstGeom>
          <a:noFill/>
          <a:ln/>
        </p:spPr>
        <p:txBody>
          <a:bodyPr wrap="none" lIns="0" tIns="0" rIns="0" bIns="0" rtlCol="0" anchor="t"/>
          <a:lstStyle/>
          <a:p>
            <a:pPr algn="l" indent="0" marL="0">
              <a:lnSpc>
                <a:spcPts val="2400"/>
              </a:lnSpc>
              <a:buNone/>
            </a:pPr>
            <a:r>
              <a:rPr lang="en-US" sz="1900" dirty="0">
                <a:solidFill>
                  <a:srgbClr val="2B2E3C"/>
                </a:solidFill>
                <a:latin typeface="Bitter Medium" pitchFamily="34" charset="0"/>
                <a:ea typeface="Bitter Medium" pitchFamily="34" charset="-122"/>
                <a:cs typeface="Bitter Medium" pitchFamily="34" charset="-120"/>
              </a:rPr>
              <a:t>Integrated Technology</a:t>
            </a:r>
            <a:endParaRPr lang="en-US" sz="1900" dirty="0"/>
          </a:p>
        </p:txBody>
      </p:sp>
      <p:sp>
        <p:nvSpPr>
          <p:cNvPr id="11" name="Text 8"/>
          <p:cNvSpPr/>
          <p:nvPr/>
        </p:nvSpPr>
        <p:spPr>
          <a:xfrm>
            <a:off x="5371862" y="5314712"/>
            <a:ext cx="3886557" cy="633889"/>
          </a:xfrm>
          <a:prstGeom prst="rect">
            <a:avLst/>
          </a:prstGeom>
          <a:noFill/>
          <a:ln/>
        </p:spPr>
        <p:txBody>
          <a:bodyPr wrap="square" lIns="0" tIns="0" rIns="0" bIns="0" rtlCol="0" anchor="t"/>
          <a:lstStyle/>
          <a:p>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N-atural language understanding with powerful computer vision capabilities.</a:t>
            </a:r>
            <a:endParaRPr lang="en-US" sz="1550" dirty="0"/>
          </a:p>
        </p:txBody>
      </p:sp>
      <p:sp>
        <p:nvSpPr>
          <p:cNvPr id="12" name="Shape 9"/>
          <p:cNvSpPr/>
          <p:nvPr/>
        </p:nvSpPr>
        <p:spPr>
          <a:xfrm>
            <a:off x="9654421" y="4094083"/>
            <a:ext cx="4282678" cy="594241"/>
          </a:xfrm>
          <a:prstGeom prst="roundRect">
            <a:avLst>
              <a:gd name="adj" fmla="val 480041"/>
            </a:avLst>
          </a:prstGeom>
          <a:solidFill>
            <a:srgbClr val="FCE2CF"/>
          </a:solidFill>
          <a:ln w="7620">
            <a:solidFill>
              <a:srgbClr val="E2C8B5"/>
            </a:solidFill>
            <a:prstDash val="solid"/>
          </a:ln>
        </p:spPr>
      </p:sp>
      <p:sp>
        <p:nvSpPr>
          <p:cNvPr id="13" name="Text 10"/>
          <p:cNvSpPr/>
          <p:nvPr/>
        </p:nvSpPr>
        <p:spPr>
          <a:xfrm>
            <a:off x="11647170" y="4205526"/>
            <a:ext cx="297061" cy="371356"/>
          </a:xfrm>
          <a:prstGeom prst="rect">
            <a:avLst/>
          </a:prstGeom>
          <a:noFill/>
          <a:ln/>
        </p:spPr>
        <p:txBody>
          <a:bodyPr wrap="none" lIns="0" tIns="0" rIns="0" bIns="0" rtlCol="0" anchor="t"/>
          <a:lstStyle/>
          <a:p>
            <a:pPr algn="l" indent="0" marL="0">
              <a:lnSpc>
                <a:spcPts val="2300"/>
              </a:lnSpc>
              <a:buNone/>
            </a:pPr>
            <a:r>
              <a:rPr lang="en-US" sz="2300" dirty="0">
                <a:solidFill>
                  <a:srgbClr val="2B2E3C"/>
                </a:solidFill>
                <a:latin typeface="Bitter Medium" pitchFamily="34" charset="0"/>
                <a:ea typeface="Bitter Medium" pitchFamily="34" charset="-122"/>
                <a:cs typeface="Bitter Medium" pitchFamily="34" charset="-120"/>
              </a:rPr>
              <a:t>3</a:t>
            </a:r>
            <a:endParaRPr lang="en-US" sz="2300" dirty="0"/>
          </a:p>
        </p:txBody>
      </p:sp>
      <p:sp>
        <p:nvSpPr>
          <p:cNvPr id="14" name="Text 11"/>
          <p:cNvSpPr/>
          <p:nvPr/>
        </p:nvSpPr>
        <p:spPr>
          <a:xfrm>
            <a:off x="9852422" y="4886325"/>
            <a:ext cx="2717006" cy="309563"/>
          </a:xfrm>
          <a:prstGeom prst="rect">
            <a:avLst/>
          </a:prstGeom>
          <a:noFill/>
          <a:ln/>
        </p:spPr>
        <p:txBody>
          <a:bodyPr wrap="none" lIns="0" tIns="0" rIns="0" bIns="0" rtlCol="0" anchor="t"/>
          <a:lstStyle/>
          <a:p>
            <a:pPr algn="l" indent="0" marL="0">
              <a:lnSpc>
                <a:spcPts val="2400"/>
              </a:lnSpc>
              <a:buNone/>
            </a:pPr>
            <a:r>
              <a:rPr lang="en-US" sz="1900" dirty="0">
                <a:solidFill>
                  <a:srgbClr val="2B2E3C"/>
                </a:solidFill>
                <a:latin typeface="Bitter Medium" pitchFamily="34" charset="0"/>
                <a:ea typeface="Bitter Medium" pitchFamily="34" charset="-122"/>
                <a:cs typeface="Bitter Medium" pitchFamily="34" charset="-120"/>
              </a:rPr>
              <a:t>24/7 Real-Time Support</a:t>
            </a:r>
            <a:endParaRPr lang="en-US" sz="1900" dirty="0"/>
          </a:p>
        </p:txBody>
      </p:sp>
      <p:sp>
        <p:nvSpPr>
          <p:cNvPr id="15" name="Text 12"/>
          <p:cNvSpPr/>
          <p:nvPr/>
        </p:nvSpPr>
        <p:spPr>
          <a:xfrm>
            <a:off x="9852422" y="5314712"/>
            <a:ext cx="3886676" cy="950833"/>
          </a:xfrm>
          <a:prstGeom prst="rect">
            <a:avLst/>
          </a:prstGeom>
          <a:noFill/>
          <a:ln/>
        </p:spPr>
        <p:txBody>
          <a:bodyPr wrap="square" lIns="0" tIns="0" rIns="0" bIns="0" rtlCol="0" anchor="t"/>
          <a:lstStyle/>
          <a:p>
            <a:pPr algn="l" indent="0" marL="0">
              <a:lnSpc>
                <a:spcPts val="2450"/>
              </a:lnSpc>
              <a:buNone/>
            </a:pPr>
            <a:r>
              <a:rPr lang="en-US" sz="1550" dirty="0">
                <a:solidFill>
                  <a:srgbClr val="2B2E3C"/>
                </a:solidFill>
                <a:latin typeface="Open Sans" pitchFamily="34" charset="0"/>
                <a:ea typeface="Open Sans" pitchFamily="34" charset="-122"/>
                <a:cs typeface="Open Sans" pitchFamily="34" charset="-120"/>
              </a:rPr>
              <a:t>Available instantly on mobile devices, providing real-time, personalized, and actionable guidance anytime, anywhere.</a:t>
            </a:r>
            <a:endParaRPr lang="en-US" sz="1550" dirty="0"/>
          </a:p>
        </p:txBody>
      </p:sp>
      <p:sp>
        <p:nvSpPr>
          <p:cNvPr id="16" name="Shape 13"/>
          <p:cNvSpPr/>
          <p:nvPr/>
        </p:nvSpPr>
        <p:spPr>
          <a:xfrm>
            <a:off x="693301" y="6686312"/>
            <a:ext cx="13243798" cy="841534"/>
          </a:xfrm>
          <a:prstGeom prst="roundRect">
            <a:avLst>
              <a:gd name="adj" fmla="val 9887"/>
            </a:avLst>
          </a:prstGeom>
          <a:solidFill>
            <a:srgbClr val="C3CDC1"/>
          </a:solidFill>
          <a:ln/>
        </p:spPr>
      </p:sp>
      <p:pic>
        <p:nvPicPr>
          <p:cNvPr id="17" name="Image 1" descr="preencoded.png">    </p:cNvPr>
          <p:cNvPicPr>
            <a:picLocks noChangeAspect="1"/>
          </p:cNvPicPr>
          <p:nvPr/>
        </p:nvPicPr>
        <p:blipFill>
          <a:blip r:embed="rId2"/>
          <a:stretch>
            <a:fillRect/>
          </a:stretch>
        </p:blipFill>
        <p:spPr>
          <a:xfrm>
            <a:off x="891302" y="6988969"/>
            <a:ext cx="247531" cy="198001"/>
          </a:xfrm>
          <a:prstGeom prst="rect">
            <a:avLst/>
          </a:prstGeom>
        </p:spPr>
      </p:pic>
      <p:sp>
        <p:nvSpPr>
          <p:cNvPr id="18" name="Text 14"/>
          <p:cNvSpPr/>
          <p:nvPr/>
        </p:nvSpPr>
        <p:spPr>
          <a:xfrm>
            <a:off x="1336834" y="6933724"/>
            <a:ext cx="12402264" cy="316944"/>
          </a:xfrm>
          <a:prstGeom prst="rect">
            <a:avLst/>
          </a:prstGeom>
          <a:noFill/>
          <a:ln/>
        </p:spPr>
        <p:txBody>
          <a:bodyPr wrap="none" lIns="0" tIns="0" rIns="0" bIns="0" rtlCol="0" anchor="t"/>
          <a:lstStyle/>
          <a:p>
            <a:pPr algn="l" indent="0" marL="0">
              <a:lnSpc>
                <a:spcPts val="2450"/>
              </a:lnSpc>
              <a:buNone/>
            </a:pPr>
            <a:r>
              <a:rPr lang="en-US" sz="1550" dirty="0">
                <a:solidFill>
                  <a:srgbClr val="000000"/>
                </a:solidFill>
                <a:latin typeface="Open Sans" pitchFamily="34" charset="0"/>
                <a:ea typeface="Open Sans" pitchFamily="34" charset="-122"/>
                <a:cs typeface="Open Sans" pitchFamily="34" charset="-120"/>
              </a:rPr>
              <a:t>The system bridges the gap between complex agricultural science and practical field application.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45118"/>
            <a:ext cx="11017448"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Core Capabilities: Key Features of AgroBot</a:t>
            </a:r>
            <a:endParaRPr lang="en-US" sz="4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107525"/>
            <a:ext cx="680442" cy="680442"/>
          </a:xfrm>
          <a:prstGeom prst="rect">
            <a:avLst/>
          </a:prstGeom>
        </p:spPr>
      </p:pic>
      <p:sp>
        <p:nvSpPr>
          <p:cNvPr id="4" name="Text 1"/>
          <p:cNvSpPr/>
          <p:nvPr/>
        </p:nvSpPr>
        <p:spPr>
          <a:xfrm>
            <a:off x="793790" y="30714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Plant Identifier</a:t>
            </a:r>
            <a:endParaRPr lang="en-US" sz="2200" dirty="0"/>
          </a:p>
        </p:txBody>
      </p:sp>
      <p:sp>
        <p:nvSpPr>
          <p:cNvPr id="5" name="Text 2"/>
          <p:cNvSpPr/>
          <p:nvPr/>
        </p:nvSpPr>
        <p:spPr>
          <a:xfrm>
            <a:off x="793790" y="3561874"/>
            <a:ext cx="6379607" cy="725805"/>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Snap a photo to instantly identify your crop or weed species with high accuracy.</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884" y="2107525"/>
            <a:ext cx="680442" cy="680442"/>
          </a:xfrm>
          <a:prstGeom prst="rect">
            <a:avLst/>
          </a:prstGeom>
        </p:spPr>
      </p:pic>
      <p:sp>
        <p:nvSpPr>
          <p:cNvPr id="7" name="Text 3"/>
          <p:cNvSpPr/>
          <p:nvPr/>
        </p:nvSpPr>
        <p:spPr>
          <a:xfrm>
            <a:off x="7456884" y="30714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Disease Diagnosis</a:t>
            </a:r>
            <a:endParaRPr lang="en-US" sz="2200" dirty="0"/>
          </a:p>
        </p:txBody>
      </p:sp>
      <p:sp>
        <p:nvSpPr>
          <p:cNvPr id="8" name="Text 4"/>
          <p:cNvSpPr/>
          <p:nvPr/>
        </p:nvSpPr>
        <p:spPr>
          <a:xfrm>
            <a:off x="7456884" y="3561874"/>
            <a:ext cx="6379726" cy="725805"/>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Upload plant images and receive AI-driven detection of diseases, along with specific, effective treatment advice.</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4741307"/>
            <a:ext cx="680442" cy="680442"/>
          </a:xfrm>
          <a:prstGeom prst="rect">
            <a:avLst/>
          </a:prstGeom>
        </p:spPr>
      </p:pic>
      <p:sp>
        <p:nvSpPr>
          <p:cNvPr id="10" name="Text 5"/>
          <p:cNvSpPr/>
          <p:nvPr/>
        </p:nvSpPr>
        <p:spPr>
          <a:xfrm>
            <a:off x="793790" y="570523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Farming Tips</a:t>
            </a:r>
            <a:endParaRPr lang="en-US" sz="2200" dirty="0"/>
          </a:p>
        </p:txBody>
      </p:sp>
      <p:sp>
        <p:nvSpPr>
          <p:cNvPr id="11" name="Text 6"/>
          <p:cNvSpPr/>
          <p:nvPr/>
        </p:nvSpPr>
        <p:spPr>
          <a:xfrm>
            <a:off x="793790" y="6195655"/>
            <a:ext cx="6379607" cy="1088708"/>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Tailored guidance on crucial tasks: optimized irrigation schedules, precision fertilization, and integrated pest control strategies.</a:t>
            </a:r>
            <a:endParaRPr lang="en-US" sz="17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884" y="4741307"/>
            <a:ext cx="680442" cy="680442"/>
          </a:xfrm>
          <a:prstGeom prst="rect">
            <a:avLst/>
          </a:prstGeom>
        </p:spPr>
      </p:pic>
      <p:sp>
        <p:nvSpPr>
          <p:cNvPr id="13" name="Text 7"/>
          <p:cNvSpPr/>
          <p:nvPr/>
        </p:nvSpPr>
        <p:spPr>
          <a:xfrm>
            <a:off x="7456884" y="570523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Agriculture News</a:t>
            </a:r>
            <a:endParaRPr lang="en-US" sz="2200" dirty="0"/>
          </a:p>
        </p:txBody>
      </p:sp>
      <p:sp>
        <p:nvSpPr>
          <p:cNvPr id="14" name="Text 8"/>
          <p:cNvSpPr/>
          <p:nvPr/>
        </p:nvSpPr>
        <p:spPr>
          <a:xfrm>
            <a:off x="7456884" y="6195655"/>
            <a:ext cx="6379726" cy="1088708"/>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Stay current with the latest global farming developments and localized agricultural news curated specifically for your region and crops.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101096"/>
          </a:xfrm>
          <a:prstGeom prst="rect">
            <a:avLst/>
          </a:prstGeom>
        </p:spPr>
      </p:pic>
      <p:sp>
        <p:nvSpPr>
          <p:cNvPr id="3" name="Text 0"/>
          <p:cNvSpPr/>
          <p:nvPr/>
        </p:nvSpPr>
        <p:spPr>
          <a:xfrm>
            <a:off x="588288" y="2563297"/>
            <a:ext cx="8065532" cy="525304"/>
          </a:xfrm>
          <a:prstGeom prst="rect">
            <a:avLst/>
          </a:prstGeom>
          <a:noFill/>
          <a:ln/>
        </p:spPr>
        <p:txBody>
          <a:bodyPr wrap="none" lIns="0" tIns="0" rIns="0" bIns="0" rtlCol="0" anchor="t"/>
          <a:lstStyle/>
          <a:p>
            <a:pPr algn="l" indent="0" marL="0">
              <a:lnSpc>
                <a:spcPts val="4100"/>
              </a:lnSpc>
              <a:buNone/>
            </a:pPr>
            <a:r>
              <a:rPr lang="en-US" sz="3300" dirty="0">
                <a:solidFill>
                  <a:srgbClr val="2C3F42"/>
                </a:solidFill>
                <a:latin typeface="Bitter Medium" pitchFamily="34" charset="0"/>
                <a:ea typeface="Bitter Medium" pitchFamily="34" charset="-122"/>
                <a:cs typeface="Bitter Medium" pitchFamily="34" charset="-120"/>
              </a:rPr>
              <a:t>Precision and Personalization in Farming</a:t>
            </a:r>
            <a:endParaRPr lang="en-US" sz="3300" dirty="0"/>
          </a:p>
        </p:txBody>
      </p:sp>
      <p:sp>
        <p:nvSpPr>
          <p:cNvPr id="4" name="Shape 1"/>
          <p:cNvSpPr/>
          <p:nvPr/>
        </p:nvSpPr>
        <p:spPr>
          <a:xfrm>
            <a:off x="7303770" y="3340656"/>
            <a:ext cx="22860" cy="4430197"/>
          </a:xfrm>
          <a:prstGeom prst="roundRect">
            <a:avLst>
              <a:gd name="adj" fmla="val 308837"/>
            </a:avLst>
          </a:prstGeom>
          <a:solidFill>
            <a:srgbClr val="E2C8B5"/>
          </a:solidFill>
          <a:ln/>
        </p:spPr>
      </p:sp>
      <p:sp>
        <p:nvSpPr>
          <p:cNvPr id="5" name="Shape 2"/>
          <p:cNvSpPr/>
          <p:nvPr/>
        </p:nvSpPr>
        <p:spPr>
          <a:xfrm>
            <a:off x="565428" y="3340656"/>
            <a:ext cx="6726912" cy="1252657"/>
          </a:xfrm>
          <a:prstGeom prst="roundRect">
            <a:avLst>
              <a:gd name="adj" fmla="val 5636"/>
            </a:avLst>
          </a:prstGeom>
          <a:solidFill>
            <a:srgbClr val="FCE2CF"/>
          </a:solidFill>
          <a:ln w="7620">
            <a:solidFill>
              <a:srgbClr val="E2C8B5"/>
            </a:solidFill>
            <a:prstDash val="solid"/>
          </a:ln>
        </p:spPr>
      </p:sp>
      <p:sp>
        <p:nvSpPr>
          <p:cNvPr id="6" name="Text 3"/>
          <p:cNvSpPr/>
          <p:nvPr/>
        </p:nvSpPr>
        <p:spPr>
          <a:xfrm>
            <a:off x="4490085" y="3516273"/>
            <a:ext cx="2634258" cy="262652"/>
          </a:xfrm>
          <a:prstGeom prst="rect">
            <a:avLst/>
          </a:prstGeom>
          <a:noFill/>
          <a:ln/>
        </p:spPr>
        <p:txBody>
          <a:bodyPr wrap="none" lIns="0" tIns="0" rIns="0" bIns="0" rtlCol="0" anchor="t"/>
          <a:lstStyle/>
          <a:p>
            <a:pPr algn="r" indent="0" marL="0">
              <a:lnSpc>
                <a:spcPts val="2050"/>
              </a:lnSpc>
              <a:buNone/>
            </a:pPr>
            <a:r>
              <a:rPr lang="en-US" sz="1650" dirty="0">
                <a:solidFill>
                  <a:srgbClr val="2B2E3C"/>
                </a:solidFill>
                <a:latin typeface="Bitter Medium" pitchFamily="34" charset="0"/>
                <a:ea typeface="Bitter Medium" pitchFamily="34" charset="-122"/>
                <a:cs typeface="Bitter Medium" pitchFamily="34" charset="-120"/>
              </a:rPr>
              <a:t>Soil and Crop Optimization</a:t>
            </a:r>
            <a:endParaRPr lang="en-US" sz="1650" dirty="0"/>
          </a:p>
        </p:txBody>
      </p:sp>
      <p:sp>
        <p:nvSpPr>
          <p:cNvPr id="7" name="Text 4"/>
          <p:cNvSpPr/>
          <p:nvPr/>
        </p:nvSpPr>
        <p:spPr>
          <a:xfrm>
            <a:off x="741045" y="3879771"/>
            <a:ext cx="6383298" cy="537924"/>
          </a:xfrm>
          <a:prstGeom prst="rect">
            <a:avLst/>
          </a:prstGeom>
          <a:noFill/>
          <a:ln/>
        </p:spPr>
        <p:txBody>
          <a:bodyPr wrap="square" lIns="0" tIns="0" rIns="0" bIns="0" rtlCol="0" anchor="t"/>
          <a:lstStyle/>
          <a:p>
            <a:pPr algn="r" indent="0" marL="0">
              <a:lnSpc>
                <a:spcPts val="2100"/>
              </a:lnSpc>
              <a:buNone/>
            </a:pPr>
            <a:r>
              <a:rPr lang="en-US" sz="1300" dirty="0">
                <a:solidFill>
                  <a:srgbClr val="2B2E3C"/>
                </a:solidFill>
                <a:latin typeface="Open Sans" pitchFamily="34" charset="0"/>
                <a:ea typeface="Open Sans" pitchFamily="34" charset="-122"/>
                <a:cs typeface="Open Sans" pitchFamily="34" charset="-120"/>
              </a:rPr>
              <a:t>Analyzes crucial soil parameters—like pH, nutrient levels, and moisture—to provide precise, targeted crop recommendations and management plans.</a:t>
            </a:r>
            <a:endParaRPr lang="en-US" sz="1300" dirty="0"/>
          </a:p>
        </p:txBody>
      </p:sp>
      <p:sp>
        <p:nvSpPr>
          <p:cNvPr id="8" name="Shape 5"/>
          <p:cNvSpPr/>
          <p:nvPr/>
        </p:nvSpPr>
        <p:spPr>
          <a:xfrm>
            <a:off x="7338060" y="4929426"/>
            <a:ext cx="6726912" cy="1252657"/>
          </a:xfrm>
          <a:prstGeom prst="rect">
            <a:avLst/>
          </a:prstGeom>
          <a:solidFill>
            <a:srgbClr val="FCE2CF"/>
          </a:solidFill>
          <a:ln w="7620">
            <a:solidFill>
              <a:srgbClr val="E2C8B5"/>
            </a:solidFill>
            <a:prstDash val="solid"/>
          </a:ln>
        </p:spPr>
      </p:sp>
      <p:sp>
        <p:nvSpPr>
          <p:cNvPr id="9" name="Text 6"/>
          <p:cNvSpPr/>
          <p:nvPr/>
        </p:nvSpPr>
        <p:spPr>
          <a:xfrm>
            <a:off x="7506057" y="5105043"/>
            <a:ext cx="3368516" cy="262652"/>
          </a:xfrm>
          <a:prstGeom prst="rect">
            <a:avLst/>
          </a:prstGeom>
          <a:noFill/>
          <a:ln/>
        </p:spPr>
        <p:txBody>
          <a:bodyPr wrap="none" lIns="0" tIns="0" rIns="0" bIns="0" rtlCol="0" anchor="t"/>
          <a:lstStyle/>
          <a:p>
            <a:pPr algn="l" indent="0" marL="0">
              <a:lnSpc>
                <a:spcPts val="2050"/>
              </a:lnSpc>
              <a:buNone/>
            </a:pPr>
            <a:r>
              <a:rPr lang="en-US" sz="1650" dirty="0">
                <a:solidFill>
                  <a:srgbClr val="2B2E3C"/>
                </a:solidFill>
                <a:latin typeface="Bitter Medium" pitchFamily="34" charset="0"/>
                <a:ea typeface="Bitter Medium" pitchFamily="34" charset="-122"/>
                <a:cs typeface="Bitter Medium" pitchFamily="34" charset="-120"/>
              </a:rPr>
              <a:t>Breaking Communication Barriers</a:t>
            </a:r>
            <a:endParaRPr lang="en-US" sz="1650" dirty="0"/>
          </a:p>
        </p:txBody>
      </p:sp>
      <p:sp>
        <p:nvSpPr>
          <p:cNvPr id="10" name="Text 7"/>
          <p:cNvSpPr/>
          <p:nvPr/>
        </p:nvSpPr>
        <p:spPr>
          <a:xfrm>
            <a:off x="7506057" y="5468541"/>
            <a:ext cx="6383298" cy="537924"/>
          </a:xfrm>
          <a:prstGeom prst="rect">
            <a:avLst/>
          </a:prstGeom>
          <a:noFill/>
          <a:ln/>
        </p:spPr>
        <p:txBody>
          <a:bodyPr wrap="square" lIns="0" tIns="0" rIns="0" bIns="0" rtlCol="0" anchor="t"/>
          <a:lstStyle/>
          <a:p>
            <a:pPr algn="l" indent="0" marL="0">
              <a:lnSpc>
                <a:spcPts val="2100"/>
              </a:lnSpc>
              <a:buNone/>
            </a:pPr>
            <a:r>
              <a:rPr lang="en-US" sz="1300" dirty="0">
                <a:solidFill>
                  <a:srgbClr val="2B2E3C"/>
                </a:solidFill>
                <a:latin typeface="Open Sans" pitchFamily="34" charset="0"/>
                <a:ea typeface="Open Sans" pitchFamily="34" charset="-122"/>
                <a:cs typeface="Open Sans" pitchFamily="34" charset="-120"/>
              </a:rPr>
              <a:t>Understands and responds in regional languages and local dialects, ensuring all farmers, regardless of literacy level, can access expert advice.</a:t>
            </a:r>
            <a:endParaRPr lang="en-US" sz="1300" dirty="0"/>
          </a:p>
        </p:txBody>
      </p:sp>
      <p:sp>
        <p:nvSpPr>
          <p:cNvPr id="11" name="Shape 8"/>
          <p:cNvSpPr/>
          <p:nvPr/>
        </p:nvSpPr>
        <p:spPr>
          <a:xfrm>
            <a:off x="565428" y="6518196"/>
            <a:ext cx="6726912" cy="1252657"/>
          </a:xfrm>
          <a:prstGeom prst="roundRect">
            <a:avLst>
              <a:gd name="adj" fmla="val 5636"/>
            </a:avLst>
          </a:prstGeom>
          <a:solidFill>
            <a:srgbClr val="FCE2CF"/>
          </a:solidFill>
          <a:ln w="7620">
            <a:solidFill>
              <a:srgbClr val="E2C8B5"/>
            </a:solidFill>
            <a:prstDash val="solid"/>
          </a:ln>
        </p:spPr>
      </p:sp>
      <p:sp>
        <p:nvSpPr>
          <p:cNvPr id="12" name="Text 9"/>
          <p:cNvSpPr/>
          <p:nvPr/>
        </p:nvSpPr>
        <p:spPr>
          <a:xfrm>
            <a:off x="5023247" y="6693813"/>
            <a:ext cx="2101096" cy="262652"/>
          </a:xfrm>
          <a:prstGeom prst="rect">
            <a:avLst/>
          </a:prstGeom>
          <a:noFill/>
          <a:ln/>
        </p:spPr>
        <p:txBody>
          <a:bodyPr wrap="none" lIns="0" tIns="0" rIns="0" bIns="0" rtlCol="0" anchor="t"/>
          <a:lstStyle/>
          <a:p>
            <a:pPr algn="r" indent="0" marL="0">
              <a:lnSpc>
                <a:spcPts val="2050"/>
              </a:lnSpc>
              <a:buNone/>
            </a:pPr>
            <a:r>
              <a:rPr lang="en-US" sz="1650" dirty="0">
                <a:solidFill>
                  <a:srgbClr val="2B2E3C"/>
                </a:solidFill>
                <a:latin typeface="Bitter Medium" pitchFamily="34" charset="0"/>
                <a:ea typeface="Bitter Medium" pitchFamily="34" charset="-122"/>
                <a:cs typeface="Bitter Medium" pitchFamily="34" charset="-120"/>
              </a:rPr>
              <a:t>Sustainable Practices</a:t>
            </a:r>
            <a:endParaRPr lang="en-US" sz="1650" dirty="0"/>
          </a:p>
        </p:txBody>
      </p:sp>
      <p:sp>
        <p:nvSpPr>
          <p:cNvPr id="13" name="Text 10"/>
          <p:cNvSpPr/>
          <p:nvPr/>
        </p:nvSpPr>
        <p:spPr>
          <a:xfrm>
            <a:off x="741045" y="7057311"/>
            <a:ext cx="6383298" cy="537924"/>
          </a:xfrm>
          <a:prstGeom prst="rect">
            <a:avLst/>
          </a:prstGeom>
          <a:noFill/>
          <a:ln/>
        </p:spPr>
        <p:txBody>
          <a:bodyPr wrap="square" lIns="0" tIns="0" rIns="0" bIns="0" rtlCol="0" anchor="t"/>
          <a:lstStyle/>
          <a:p>
            <a:pPr algn="r" indent="0" marL="0">
              <a:lnSpc>
                <a:spcPts val="2100"/>
              </a:lnSpc>
              <a:buNone/>
            </a:pPr>
            <a:r>
              <a:rPr lang="en-US" sz="1300" dirty="0">
                <a:solidFill>
                  <a:srgbClr val="2B2E3C"/>
                </a:solidFill>
                <a:latin typeface="Open Sans" pitchFamily="34" charset="0"/>
                <a:ea typeface="Open Sans" pitchFamily="34" charset="-122"/>
                <a:cs typeface="Open Sans" pitchFamily="34" charset="-120"/>
              </a:rPr>
              <a:t>Promotes eco-friendly and sustainable farming techniques, helping farmers reduce their environmental impact while maintaining profitability.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80924"/>
            <a:ext cx="11084957"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Real-World Impact: Empowering  Farmers</a:t>
            </a:r>
            <a:endParaRPr lang="en-US" sz="4450" dirty="0"/>
          </a:p>
        </p:txBody>
      </p:sp>
      <p:sp>
        <p:nvSpPr>
          <p:cNvPr id="3" name="Text 1"/>
          <p:cNvSpPr/>
          <p:nvPr/>
        </p:nvSpPr>
        <p:spPr>
          <a:xfrm>
            <a:off x="793790" y="2956679"/>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2B2E3C"/>
                </a:solidFill>
                <a:latin typeface="Bitter Medium" pitchFamily="34" charset="0"/>
                <a:ea typeface="Bitter Medium" pitchFamily="34" charset="-122"/>
                <a:cs typeface="Bitter Medium" pitchFamily="34" charset="-120"/>
              </a:rPr>
              <a:t>—</a:t>
            </a:r>
            <a:endParaRPr lang="en-US" sz="5850" dirty="0"/>
          </a:p>
        </p:txBody>
      </p:sp>
      <p:sp>
        <p:nvSpPr>
          <p:cNvPr id="4" name="Text 2"/>
          <p:cNvSpPr/>
          <p:nvPr/>
        </p:nvSpPr>
        <p:spPr>
          <a:xfrm>
            <a:off x="1368504" y="3988475"/>
            <a:ext cx="3009186" cy="354330"/>
          </a:xfrm>
          <a:prstGeom prst="rect">
            <a:avLst/>
          </a:prstGeom>
          <a:noFill/>
          <a:ln/>
        </p:spPr>
        <p:txBody>
          <a:bodyPr wrap="none" lIns="0" tIns="0" rIns="0" bIns="0" rtlCol="0" anchor="t"/>
          <a:lstStyle/>
          <a:p>
            <a:pPr algn="ctr"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Reduction in Crop Loss</a:t>
            </a:r>
            <a:endParaRPr lang="en-US" sz="2200" dirty="0"/>
          </a:p>
        </p:txBody>
      </p:sp>
      <p:sp>
        <p:nvSpPr>
          <p:cNvPr id="5" name="Text 3"/>
          <p:cNvSpPr/>
          <p:nvPr/>
        </p:nvSpPr>
        <p:spPr>
          <a:xfrm>
            <a:off x="793790" y="4478893"/>
            <a:ext cx="4158615" cy="1088708"/>
          </a:xfrm>
          <a:prstGeom prst="rect">
            <a:avLst/>
          </a:prstGeom>
          <a:noFill/>
          <a:ln/>
        </p:spPr>
        <p:txBody>
          <a:bodyPr wrap="square" lIns="0" tIns="0" rIns="0" bIns="0" rtlCol="0" anchor="t"/>
          <a:lstStyle/>
          <a:p>
            <a:pPr algn="ctr" indent="0" marL="0">
              <a:lnSpc>
                <a:spcPts val="2850"/>
              </a:lnSpc>
              <a:buNone/>
            </a:pPr>
            <a:r>
              <a:rPr lang="en-US" sz="1750" dirty="0">
                <a:solidFill>
                  <a:srgbClr val="2B2E3C"/>
                </a:solidFill>
                <a:latin typeface="Open Sans" pitchFamily="34" charset="0"/>
                <a:ea typeface="Open Sans" pitchFamily="34" charset="-122"/>
                <a:cs typeface="Open Sans" pitchFamily="34" charset="-120"/>
              </a:rPr>
              <a:t>Instant access to expert diagnosis and advice significantly minimizes losses from pests and diseases.</a:t>
            </a:r>
            <a:endParaRPr lang="en-US" sz="1750" dirty="0"/>
          </a:p>
        </p:txBody>
      </p:sp>
      <p:sp>
        <p:nvSpPr>
          <p:cNvPr id="6" name="Text 4"/>
          <p:cNvSpPr/>
          <p:nvPr/>
        </p:nvSpPr>
        <p:spPr>
          <a:xfrm>
            <a:off x="5235893" y="2956679"/>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2B2E3C"/>
                </a:solidFill>
                <a:latin typeface="Bitter Medium" pitchFamily="34" charset="0"/>
                <a:ea typeface="Bitter Medium" pitchFamily="34" charset="-122"/>
                <a:cs typeface="Bitter Medium" pitchFamily="34" charset="-120"/>
              </a:rPr>
              <a:t>—</a:t>
            </a:r>
            <a:endParaRPr lang="en-US" sz="5850" dirty="0"/>
          </a:p>
        </p:txBody>
      </p:sp>
      <p:sp>
        <p:nvSpPr>
          <p:cNvPr id="7" name="Text 5"/>
          <p:cNvSpPr/>
          <p:nvPr/>
        </p:nvSpPr>
        <p:spPr>
          <a:xfrm>
            <a:off x="5897523" y="3988475"/>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Improved Yield</a:t>
            </a:r>
            <a:endParaRPr lang="en-US" sz="2200" dirty="0"/>
          </a:p>
        </p:txBody>
      </p:sp>
      <p:sp>
        <p:nvSpPr>
          <p:cNvPr id="8" name="Text 6"/>
          <p:cNvSpPr/>
          <p:nvPr/>
        </p:nvSpPr>
        <p:spPr>
          <a:xfrm>
            <a:off x="5235893" y="4478893"/>
            <a:ext cx="4158615" cy="1088708"/>
          </a:xfrm>
          <a:prstGeom prst="rect">
            <a:avLst/>
          </a:prstGeom>
          <a:noFill/>
          <a:ln/>
        </p:spPr>
        <p:txBody>
          <a:bodyPr wrap="square" lIns="0" tIns="0" rIns="0" bIns="0" rtlCol="0" anchor="t"/>
          <a:lstStyle/>
          <a:p>
            <a:pPr algn="ctr" indent="0" marL="0">
              <a:lnSpc>
                <a:spcPts val="2850"/>
              </a:lnSpc>
              <a:buNone/>
            </a:pPr>
            <a:r>
              <a:rPr lang="en-US" sz="1750" dirty="0">
                <a:solidFill>
                  <a:srgbClr val="2B2E3C"/>
                </a:solidFill>
                <a:latin typeface="Open Sans" pitchFamily="34" charset="0"/>
                <a:ea typeface="Open Sans" pitchFamily="34" charset="-122"/>
                <a:cs typeface="Open Sans" pitchFamily="34" charset="-120"/>
              </a:rPr>
              <a:t>Targeted interventions enabled by precision farming recommendations lead to higher, more consistent yields.</a:t>
            </a:r>
            <a:endParaRPr lang="en-US" sz="1750" dirty="0"/>
          </a:p>
        </p:txBody>
      </p:sp>
      <p:sp>
        <p:nvSpPr>
          <p:cNvPr id="9" name="Text 7"/>
          <p:cNvSpPr/>
          <p:nvPr/>
        </p:nvSpPr>
        <p:spPr>
          <a:xfrm>
            <a:off x="9677995" y="2956679"/>
            <a:ext cx="4158615" cy="748427"/>
          </a:xfrm>
          <a:prstGeom prst="rect">
            <a:avLst/>
          </a:prstGeom>
          <a:noFill/>
          <a:ln/>
        </p:spPr>
        <p:txBody>
          <a:bodyPr wrap="none" lIns="0" tIns="0" rIns="0" bIns="0" rtlCol="0" anchor="t"/>
          <a:lstStyle/>
          <a:p>
            <a:pPr algn="ctr" indent="0" marL="0">
              <a:lnSpc>
                <a:spcPts val="5850"/>
              </a:lnSpc>
              <a:buNone/>
            </a:pPr>
            <a:r>
              <a:rPr lang="en-US" sz="5850" dirty="0">
                <a:solidFill>
                  <a:srgbClr val="2B2E3C"/>
                </a:solidFill>
                <a:latin typeface="Bitter Medium" pitchFamily="34" charset="0"/>
                <a:ea typeface="Bitter Medium" pitchFamily="34" charset="-122"/>
                <a:cs typeface="Bitter Medium" pitchFamily="34" charset="-120"/>
              </a:rPr>
              <a:t>—</a:t>
            </a:r>
            <a:endParaRPr lang="en-US" sz="5850" dirty="0"/>
          </a:p>
        </p:txBody>
      </p:sp>
      <p:sp>
        <p:nvSpPr>
          <p:cNvPr id="10" name="Text 8"/>
          <p:cNvSpPr/>
          <p:nvPr/>
        </p:nvSpPr>
        <p:spPr>
          <a:xfrm>
            <a:off x="10339626" y="3988475"/>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Input Cost Savings</a:t>
            </a:r>
            <a:endParaRPr lang="en-US" sz="2200" dirty="0"/>
          </a:p>
        </p:txBody>
      </p:sp>
      <p:sp>
        <p:nvSpPr>
          <p:cNvPr id="11" name="Text 9"/>
          <p:cNvSpPr/>
          <p:nvPr/>
        </p:nvSpPr>
        <p:spPr>
          <a:xfrm>
            <a:off x="9677995" y="4478893"/>
            <a:ext cx="4158615" cy="1088708"/>
          </a:xfrm>
          <a:prstGeom prst="rect">
            <a:avLst/>
          </a:prstGeom>
          <a:noFill/>
          <a:ln/>
        </p:spPr>
        <p:txBody>
          <a:bodyPr wrap="square" lIns="0" tIns="0" rIns="0" bIns="0" rtlCol="0" anchor="t"/>
          <a:lstStyle/>
          <a:p>
            <a:pPr algn="ctr" indent="0" marL="0">
              <a:lnSpc>
                <a:spcPts val="2850"/>
              </a:lnSpc>
              <a:buNone/>
            </a:pPr>
            <a:r>
              <a:rPr lang="en-US" sz="1750" dirty="0">
                <a:solidFill>
                  <a:srgbClr val="2B2E3C"/>
                </a:solidFill>
                <a:latin typeface="Open Sans" pitchFamily="34" charset="0"/>
                <a:ea typeface="Open Sans" pitchFamily="34" charset="-122"/>
                <a:cs typeface="Open Sans" pitchFamily="34" charset="-120"/>
              </a:rPr>
              <a:t>Optimized use of fertilizers, water, and pesticides based on real-time data reduces unnecessary expenditure.</a:t>
            </a:r>
            <a:endParaRPr lang="en-US" sz="1750" dirty="0"/>
          </a:p>
        </p:txBody>
      </p:sp>
      <p:sp>
        <p:nvSpPr>
          <p:cNvPr id="12" name="Text 10"/>
          <p:cNvSpPr/>
          <p:nvPr/>
        </p:nvSpPr>
        <p:spPr>
          <a:xfrm>
            <a:off x="793790" y="582275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AgroBot supports smallholder farmers by providing accessible, cutting-edge technology, effectively leveling the agricultural playing field globally.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441722" y="347663"/>
            <a:ext cx="3155156" cy="394335"/>
          </a:xfrm>
          <a:prstGeom prst="rect">
            <a:avLst/>
          </a:prstGeom>
          <a:noFill/>
          <a:ln/>
        </p:spPr>
        <p:txBody>
          <a:bodyPr wrap="none" lIns="0" tIns="0" rIns="0" bIns="0" rtlCol="0" anchor="t"/>
          <a:lstStyle/>
          <a:p>
            <a:pPr algn="l" indent="0" marL="0">
              <a:lnSpc>
                <a:spcPts val="3100"/>
              </a:lnSpc>
              <a:buNone/>
            </a:pPr>
            <a:r>
              <a:rPr lang="en-US" sz="2450" dirty="0">
                <a:solidFill>
                  <a:srgbClr val="2C3F42"/>
                </a:solidFill>
                <a:latin typeface="Bitter Medium" pitchFamily="34" charset="0"/>
                <a:ea typeface="Bitter Medium" pitchFamily="34" charset="-122"/>
                <a:cs typeface="Bitter Medium" pitchFamily="34" charset="-120"/>
              </a:rPr>
              <a:t>Technology Stack</a:t>
            </a:r>
            <a:endParaRPr lang="en-US" sz="24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1722" y="931307"/>
            <a:ext cx="315516" cy="315516"/>
          </a:xfrm>
          <a:prstGeom prst="rect">
            <a:avLst/>
          </a:prstGeom>
        </p:spPr>
      </p:pic>
      <p:sp>
        <p:nvSpPr>
          <p:cNvPr id="5" name="Text 1"/>
          <p:cNvSpPr/>
          <p:nvPr/>
        </p:nvSpPr>
        <p:spPr>
          <a:xfrm>
            <a:off x="441722" y="1404580"/>
            <a:ext cx="1577578" cy="197168"/>
          </a:xfrm>
          <a:prstGeom prst="rect">
            <a:avLst/>
          </a:prstGeom>
          <a:noFill/>
          <a:ln/>
        </p:spPr>
        <p:txBody>
          <a:bodyPr wrap="none" lIns="0" tIns="0" rIns="0" bIns="0" rtlCol="0" anchor="t"/>
          <a:lstStyle/>
          <a:p>
            <a:pPr algn="l" indent="0" marL="0">
              <a:lnSpc>
                <a:spcPts val="1550"/>
              </a:lnSpc>
              <a:buNone/>
            </a:pPr>
            <a:r>
              <a:rPr lang="en-US" sz="1200" dirty="0">
                <a:solidFill>
                  <a:srgbClr val="2B2E3C"/>
                </a:solidFill>
                <a:latin typeface="Bitter Medium" pitchFamily="34" charset="0"/>
                <a:ea typeface="Bitter Medium" pitchFamily="34" charset="-122"/>
                <a:cs typeface="Bitter Medium" pitchFamily="34" charset="-120"/>
              </a:rPr>
              <a:t>Python</a:t>
            </a:r>
            <a:endParaRPr lang="en-US" sz="1200" dirty="0"/>
          </a:p>
        </p:txBody>
      </p:sp>
      <p:sp>
        <p:nvSpPr>
          <p:cNvPr id="6" name="Text 2"/>
          <p:cNvSpPr/>
          <p:nvPr/>
        </p:nvSpPr>
        <p:spPr>
          <a:xfrm>
            <a:off x="441722" y="1677472"/>
            <a:ext cx="8260556" cy="20193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Core programming language providing flexibility and extensive libraries for AI integration</a:t>
            </a:r>
            <a:endParaRPr lang="en-US" sz="9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1722" y="2131814"/>
            <a:ext cx="315516" cy="315516"/>
          </a:xfrm>
          <a:prstGeom prst="rect">
            <a:avLst/>
          </a:prstGeom>
        </p:spPr>
      </p:pic>
      <p:sp>
        <p:nvSpPr>
          <p:cNvPr id="8" name="Text 3"/>
          <p:cNvSpPr/>
          <p:nvPr/>
        </p:nvSpPr>
        <p:spPr>
          <a:xfrm>
            <a:off x="441722" y="2605088"/>
            <a:ext cx="1577578" cy="197168"/>
          </a:xfrm>
          <a:prstGeom prst="rect">
            <a:avLst/>
          </a:prstGeom>
          <a:noFill/>
          <a:ln/>
        </p:spPr>
        <p:txBody>
          <a:bodyPr wrap="none" lIns="0" tIns="0" rIns="0" bIns="0" rtlCol="0" anchor="t"/>
          <a:lstStyle/>
          <a:p>
            <a:pPr algn="l" indent="0" marL="0">
              <a:lnSpc>
                <a:spcPts val="1550"/>
              </a:lnSpc>
              <a:buNone/>
            </a:pPr>
            <a:r>
              <a:rPr lang="en-US" sz="1200" dirty="0">
                <a:solidFill>
                  <a:srgbClr val="2B2E3C"/>
                </a:solidFill>
                <a:latin typeface="Bitter Medium" pitchFamily="34" charset="0"/>
                <a:ea typeface="Bitter Medium" pitchFamily="34" charset="-122"/>
                <a:cs typeface="Bitter Medium" pitchFamily="34" charset="-120"/>
              </a:rPr>
              <a:t>OpenAI API</a:t>
            </a:r>
            <a:endParaRPr lang="en-US" sz="1200" dirty="0"/>
          </a:p>
        </p:txBody>
      </p:sp>
      <p:sp>
        <p:nvSpPr>
          <p:cNvPr id="9" name="Text 4"/>
          <p:cNvSpPr/>
          <p:nvPr/>
        </p:nvSpPr>
        <p:spPr>
          <a:xfrm>
            <a:off x="441722" y="2877979"/>
            <a:ext cx="8260556" cy="20193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Advanced language model delivering intelligent, context-aware responses for complex queries</a:t>
            </a:r>
            <a:endParaRPr lang="en-US" sz="9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1722" y="3332321"/>
            <a:ext cx="315516" cy="315516"/>
          </a:xfrm>
          <a:prstGeom prst="rect">
            <a:avLst/>
          </a:prstGeom>
        </p:spPr>
      </p:pic>
      <p:sp>
        <p:nvSpPr>
          <p:cNvPr id="11" name="Text 5"/>
          <p:cNvSpPr/>
          <p:nvPr/>
        </p:nvSpPr>
        <p:spPr>
          <a:xfrm>
            <a:off x="441722" y="3805595"/>
            <a:ext cx="1621393" cy="197168"/>
          </a:xfrm>
          <a:prstGeom prst="rect">
            <a:avLst/>
          </a:prstGeom>
          <a:noFill/>
          <a:ln/>
        </p:spPr>
        <p:txBody>
          <a:bodyPr wrap="none" lIns="0" tIns="0" rIns="0" bIns="0" rtlCol="0" anchor="t"/>
          <a:lstStyle/>
          <a:p>
            <a:pPr algn="l" indent="0" marL="0">
              <a:lnSpc>
                <a:spcPts val="1550"/>
              </a:lnSpc>
              <a:buNone/>
            </a:pPr>
            <a:r>
              <a:rPr lang="en-US" sz="1200" dirty="0">
                <a:solidFill>
                  <a:srgbClr val="2B2E3C"/>
                </a:solidFill>
                <a:latin typeface="Bitter Medium" pitchFamily="34" charset="0"/>
                <a:ea typeface="Bitter Medium" pitchFamily="34" charset="-122"/>
                <a:cs typeface="Bitter Medium" pitchFamily="34" charset="-120"/>
              </a:rPr>
              <a:t>JSON Knowledge Base</a:t>
            </a:r>
            <a:endParaRPr lang="en-US" sz="1200" dirty="0"/>
          </a:p>
        </p:txBody>
      </p:sp>
      <p:sp>
        <p:nvSpPr>
          <p:cNvPr id="12" name="Text 6"/>
          <p:cNvSpPr/>
          <p:nvPr/>
        </p:nvSpPr>
        <p:spPr>
          <a:xfrm>
            <a:off x="441722" y="4078486"/>
            <a:ext cx="8260556" cy="20193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Structured agricultural data enabling fast, accurate retrieval of farming information</a:t>
            </a:r>
            <a:endParaRPr lang="en-US" sz="9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1722" y="4532828"/>
            <a:ext cx="315516" cy="315516"/>
          </a:xfrm>
          <a:prstGeom prst="rect">
            <a:avLst/>
          </a:prstGeom>
        </p:spPr>
      </p:pic>
      <p:sp>
        <p:nvSpPr>
          <p:cNvPr id="14" name="Text 7"/>
          <p:cNvSpPr/>
          <p:nvPr/>
        </p:nvSpPr>
        <p:spPr>
          <a:xfrm>
            <a:off x="441722" y="5006102"/>
            <a:ext cx="1577578" cy="197168"/>
          </a:xfrm>
          <a:prstGeom prst="rect">
            <a:avLst/>
          </a:prstGeom>
          <a:noFill/>
          <a:ln/>
        </p:spPr>
        <p:txBody>
          <a:bodyPr wrap="none" lIns="0" tIns="0" rIns="0" bIns="0" rtlCol="0" anchor="t"/>
          <a:lstStyle/>
          <a:p>
            <a:pPr algn="l" indent="0" marL="0">
              <a:lnSpc>
                <a:spcPts val="1550"/>
              </a:lnSpc>
              <a:buNone/>
            </a:pPr>
            <a:r>
              <a:rPr lang="en-US" sz="1200" dirty="0">
                <a:solidFill>
                  <a:srgbClr val="2B2E3C"/>
                </a:solidFill>
                <a:latin typeface="Bitter Medium" pitchFamily="34" charset="0"/>
                <a:ea typeface="Bitter Medium" pitchFamily="34" charset="-122"/>
                <a:cs typeface="Bitter Medium" pitchFamily="34" charset="-120"/>
              </a:rPr>
              <a:t>Flask</a:t>
            </a:r>
            <a:endParaRPr lang="en-US" sz="1200" dirty="0"/>
          </a:p>
        </p:txBody>
      </p:sp>
      <p:sp>
        <p:nvSpPr>
          <p:cNvPr id="15" name="Text 8"/>
          <p:cNvSpPr/>
          <p:nvPr/>
        </p:nvSpPr>
        <p:spPr>
          <a:xfrm>
            <a:off x="441722" y="5278993"/>
            <a:ext cx="8260556" cy="20193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Lightweight web framework enabling responsive backend services and API management</a:t>
            </a:r>
            <a:endParaRPr lang="en-US" sz="950" dirty="0"/>
          </a:p>
        </p:txBody>
      </p:sp>
      <p:pic>
        <p:nvPicPr>
          <p:cNvPr id="16"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1722" y="5733336"/>
            <a:ext cx="315516" cy="315516"/>
          </a:xfrm>
          <a:prstGeom prst="rect">
            <a:avLst/>
          </a:prstGeom>
        </p:spPr>
      </p:pic>
      <p:sp>
        <p:nvSpPr>
          <p:cNvPr id="17" name="Text 9"/>
          <p:cNvSpPr/>
          <p:nvPr/>
        </p:nvSpPr>
        <p:spPr>
          <a:xfrm>
            <a:off x="441722" y="6206609"/>
            <a:ext cx="1577578" cy="197168"/>
          </a:xfrm>
          <a:prstGeom prst="rect">
            <a:avLst/>
          </a:prstGeom>
          <a:noFill/>
          <a:ln/>
        </p:spPr>
        <p:txBody>
          <a:bodyPr wrap="none" lIns="0" tIns="0" rIns="0" bIns="0" rtlCol="0" anchor="t"/>
          <a:lstStyle/>
          <a:p>
            <a:pPr algn="l" indent="0" marL="0">
              <a:lnSpc>
                <a:spcPts val="1550"/>
              </a:lnSpc>
              <a:buNone/>
            </a:pPr>
            <a:r>
              <a:rPr lang="en-US" sz="1200" dirty="0">
                <a:solidFill>
                  <a:srgbClr val="2B2E3C"/>
                </a:solidFill>
                <a:latin typeface="Bitter Medium" pitchFamily="34" charset="0"/>
                <a:ea typeface="Bitter Medium" pitchFamily="34" charset="-122"/>
                <a:cs typeface="Bitter Medium" pitchFamily="34" charset="-120"/>
              </a:rPr>
              <a:t>Google Trans</a:t>
            </a:r>
            <a:endParaRPr lang="en-US" sz="1200" dirty="0"/>
          </a:p>
        </p:txBody>
      </p:sp>
      <p:sp>
        <p:nvSpPr>
          <p:cNvPr id="18" name="Text 10"/>
          <p:cNvSpPr/>
          <p:nvPr/>
        </p:nvSpPr>
        <p:spPr>
          <a:xfrm>
            <a:off x="441722" y="6479500"/>
            <a:ext cx="8260556" cy="20193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Automatic translation service breaking language barriers across farming communities</a:t>
            </a:r>
            <a:endParaRPr lang="en-US" sz="950" dirty="0"/>
          </a:p>
        </p:txBody>
      </p:sp>
      <p:pic>
        <p:nvPicPr>
          <p:cNvPr id="19"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1722" y="6933843"/>
            <a:ext cx="315516" cy="315516"/>
          </a:xfrm>
          <a:prstGeom prst="rect">
            <a:avLst/>
          </a:prstGeom>
        </p:spPr>
      </p:pic>
      <p:sp>
        <p:nvSpPr>
          <p:cNvPr id="20" name="Text 11"/>
          <p:cNvSpPr/>
          <p:nvPr/>
        </p:nvSpPr>
        <p:spPr>
          <a:xfrm>
            <a:off x="441722" y="7407116"/>
            <a:ext cx="1577578" cy="197168"/>
          </a:xfrm>
          <a:prstGeom prst="rect">
            <a:avLst/>
          </a:prstGeom>
          <a:noFill/>
          <a:ln/>
        </p:spPr>
        <p:txBody>
          <a:bodyPr wrap="none" lIns="0" tIns="0" rIns="0" bIns="0" rtlCol="0" anchor="t"/>
          <a:lstStyle/>
          <a:p>
            <a:pPr algn="l" indent="0" marL="0">
              <a:lnSpc>
                <a:spcPts val="1550"/>
              </a:lnSpc>
              <a:buNone/>
            </a:pPr>
            <a:r>
              <a:rPr lang="en-US" sz="1200" dirty="0">
                <a:solidFill>
                  <a:srgbClr val="2B2E3C"/>
                </a:solidFill>
                <a:latin typeface="Bitter Medium" pitchFamily="34" charset="0"/>
                <a:ea typeface="Bitter Medium" pitchFamily="34" charset="-122"/>
                <a:cs typeface="Bitter Medium" pitchFamily="34" charset="-120"/>
              </a:rPr>
              <a:t>RESTful APIs</a:t>
            </a:r>
            <a:endParaRPr lang="en-US" sz="1200" dirty="0"/>
          </a:p>
        </p:txBody>
      </p:sp>
      <p:sp>
        <p:nvSpPr>
          <p:cNvPr id="21" name="Text 12"/>
          <p:cNvSpPr/>
          <p:nvPr/>
        </p:nvSpPr>
        <p:spPr>
          <a:xfrm>
            <a:off x="441722" y="7680007"/>
            <a:ext cx="8260556" cy="201930"/>
          </a:xfrm>
          <a:prstGeom prst="rect">
            <a:avLst/>
          </a:prstGeom>
          <a:noFill/>
          <a:ln/>
        </p:spPr>
        <p:txBody>
          <a:bodyPr wrap="none" lIns="0" tIns="0" rIns="0" bIns="0" rtlCol="0" anchor="t"/>
          <a:lstStyle/>
          <a:p>
            <a:pPr algn="l" indent="0" marL="0">
              <a:lnSpc>
                <a:spcPts val="1550"/>
              </a:lnSpc>
              <a:buNone/>
            </a:pPr>
            <a:r>
              <a:rPr lang="en-US" sz="950" dirty="0">
                <a:solidFill>
                  <a:srgbClr val="2B2E3C"/>
                </a:solidFill>
                <a:latin typeface="Open Sans" pitchFamily="34" charset="0"/>
                <a:ea typeface="Open Sans" pitchFamily="34" charset="-122"/>
                <a:cs typeface="Open Sans" pitchFamily="34" charset="-120"/>
              </a:rPr>
              <a:t>Seamless integration architecture connecting frontend, backend, and AI services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9503" y="620316"/>
            <a:ext cx="9479994" cy="704850"/>
          </a:xfrm>
          <a:prstGeom prst="rect">
            <a:avLst/>
          </a:prstGeom>
          <a:noFill/>
          <a:ln/>
        </p:spPr>
        <p:txBody>
          <a:bodyPr wrap="none" lIns="0" tIns="0" rIns="0" bIns="0" rtlCol="0" anchor="t"/>
          <a:lstStyle/>
          <a:p>
            <a:pPr algn="l" indent="0" marL="0">
              <a:lnSpc>
                <a:spcPts val="5550"/>
              </a:lnSpc>
              <a:buNone/>
            </a:pPr>
            <a:r>
              <a:rPr lang="en-US" sz="4400" dirty="0">
                <a:solidFill>
                  <a:srgbClr val="2C3F42"/>
                </a:solidFill>
                <a:latin typeface="Bitter Medium" pitchFamily="34" charset="0"/>
                <a:ea typeface="Bitter Medium" pitchFamily="34" charset="-122"/>
                <a:cs typeface="Bitter Medium" pitchFamily="34" charset="-120"/>
              </a:rPr>
              <a:t>A Cycle of Continuous Improvement</a:t>
            </a:r>
            <a:endParaRPr lang="en-US" sz="4400" dirty="0"/>
          </a:p>
        </p:txBody>
      </p:sp>
      <p:pic>
        <p:nvPicPr>
          <p:cNvPr id="3" name="Image 0" descr="preencoded.png">    </p:cNvPr>
          <p:cNvPicPr>
            <a:picLocks noChangeAspect="1"/>
          </p:cNvPicPr>
          <p:nvPr/>
        </p:nvPicPr>
        <p:blipFill>
          <a:blip r:embed="rId1"/>
          <a:stretch>
            <a:fillRect/>
          </a:stretch>
        </p:blipFill>
        <p:spPr>
          <a:xfrm>
            <a:off x="1076920" y="1776293"/>
            <a:ext cx="12476559" cy="4891207"/>
          </a:xfrm>
          <a:prstGeom prst="rect">
            <a:avLst/>
          </a:prstGeom>
        </p:spPr>
      </p:pic>
      <p:sp>
        <p:nvSpPr>
          <p:cNvPr id="4" name="Text 1"/>
          <p:cNvSpPr/>
          <p:nvPr/>
        </p:nvSpPr>
        <p:spPr>
          <a:xfrm>
            <a:off x="1375521" y="2016168"/>
            <a:ext cx="2283978" cy="367068"/>
          </a:xfrm>
          <a:prstGeom prst="rect">
            <a:avLst/>
          </a:prstGeom>
          <a:noFill/>
          <a:ln/>
        </p:spPr>
        <p:txBody>
          <a:bodyPr wrap="none" lIns="0" tIns="0" rIns="0" bIns="0" rtlCol="0" anchor="t"/>
          <a:lstStyle/>
          <a:p>
            <a:pPr algn="r" indent="0" marL="0">
              <a:lnSpc>
                <a:spcPts val="1650"/>
              </a:lnSpc>
              <a:buNone/>
            </a:pPr>
            <a:r>
              <a:rPr lang="en-US" sz="1350" dirty="0">
                <a:solidFill>
                  <a:srgbClr val="2C3F42"/>
                </a:solidFill>
                <a:latin typeface="Bitter Medium" pitchFamily="34" charset="0"/>
                <a:ea typeface="Bitter Medium" pitchFamily="34" charset="-122"/>
                <a:cs typeface="Bitter Medium" pitchFamily="34" charset="-120"/>
              </a:rPr>
              <a:t>Data Input</a:t>
            </a:r>
            <a:endParaRPr lang="en-US" sz="1350" dirty="0"/>
          </a:p>
        </p:txBody>
      </p:sp>
      <p:sp>
        <p:nvSpPr>
          <p:cNvPr id="5" name="Text 2"/>
          <p:cNvSpPr/>
          <p:nvPr/>
        </p:nvSpPr>
        <p:spPr>
          <a:xfrm>
            <a:off x="10970675" y="2016168"/>
            <a:ext cx="2283978" cy="367068"/>
          </a:xfrm>
          <a:prstGeom prst="rect">
            <a:avLst/>
          </a:prstGeom>
          <a:noFill/>
          <a:ln/>
        </p:spPr>
        <p:txBody>
          <a:bodyPr wrap="none" lIns="0" tIns="0" rIns="0" bIns="0" rtlCol="0" anchor="t"/>
          <a:lstStyle/>
          <a:p>
            <a:pPr algn="l" indent="0" marL="0">
              <a:lnSpc>
                <a:spcPts val="1650"/>
              </a:lnSpc>
              <a:buNone/>
            </a:pPr>
            <a:r>
              <a:rPr lang="en-US" sz="1350" dirty="0">
                <a:solidFill>
                  <a:srgbClr val="2C3F42"/>
                </a:solidFill>
                <a:latin typeface="Bitter Medium" pitchFamily="34" charset="0"/>
                <a:ea typeface="Bitter Medium" pitchFamily="34" charset="-122"/>
                <a:cs typeface="Bitter Medium" pitchFamily="34" charset="-120"/>
              </a:rPr>
              <a:t>AI Analysis</a:t>
            </a:r>
            <a:endParaRPr lang="en-US" sz="1350" dirty="0"/>
          </a:p>
        </p:txBody>
      </p:sp>
      <p:sp>
        <p:nvSpPr>
          <p:cNvPr id="6" name="Text 3"/>
          <p:cNvSpPr/>
          <p:nvPr/>
        </p:nvSpPr>
        <p:spPr>
          <a:xfrm>
            <a:off x="10970675" y="6060441"/>
            <a:ext cx="2283978" cy="367068"/>
          </a:xfrm>
          <a:prstGeom prst="rect">
            <a:avLst/>
          </a:prstGeom>
          <a:noFill/>
          <a:ln/>
        </p:spPr>
        <p:txBody>
          <a:bodyPr wrap="none" lIns="0" tIns="0" rIns="0" bIns="0" rtlCol="0" anchor="t"/>
          <a:lstStyle/>
          <a:p>
            <a:pPr algn="l" indent="0" marL="0">
              <a:lnSpc>
                <a:spcPts val="1650"/>
              </a:lnSpc>
              <a:buNone/>
            </a:pPr>
            <a:r>
              <a:rPr lang="en-US" sz="1350" dirty="0">
                <a:solidFill>
                  <a:srgbClr val="2C3F42"/>
                </a:solidFill>
                <a:latin typeface="Bitter Medium" pitchFamily="34" charset="0"/>
                <a:ea typeface="Bitter Medium" pitchFamily="34" charset="-122"/>
                <a:cs typeface="Bitter Medium" pitchFamily="34" charset="-120"/>
              </a:rPr>
              <a:t>Field Action</a:t>
            </a:r>
            <a:endParaRPr lang="en-US" sz="1350" dirty="0"/>
          </a:p>
        </p:txBody>
      </p:sp>
      <p:sp>
        <p:nvSpPr>
          <p:cNvPr id="7" name="Text 4"/>
          <p:cNvSpPr/>
          <p:nvPr/>
        </p:nvSpPr>
        <p:spPr>
          <a:xfrm>
            <a:off x="1375521" y="5693373"/>
            <a:ext cx="2283978" cy="734136"/>
          </a:xfrm>
          <a:prstGeom prst="rect">
            <a:avLst/>
          </a:prstGeom>
          <a:noFill/>
          <a:ln/>
        </p:spPr>
        <p:txBody>
          <a:bodyPr wrap="square" lIns="0" tIns="0" rIns="0" bIns="0" rtlCol="0" anchor="t"/>
          <a:lstStyle/>
          <a:p>
            <a:pPr algn="r" indent="0" marL="0">
              <a:lnSpc>
                <a:spcPts val="1650"/>
              </a:lnSpc>
              <a:buNone/>
            </a:pPr>
            <a:r>
              <a:rPr lang="en-US" sz="1350" dirty="0">
                <a:solidFill>
                  <a:srgbClr val="2C3F42"/>
                </a:solidFill>
                <a:latin typeface="Bitter Medium" pitchFamily="34" charset="0"/>
                <a:ea typeface="Bitter Medium" pitchFamily="34" charset="-122"/>
                <a:cs typeface="Bitter Medium" pitchFamily="34" charset="-120"/>
              </a:rPr>
              <a:t>Feedback Collection</a:t>
            </a:r>
            <a:endParaRPr lang="en-US" sz="1350" dirty="0"/>
          </a:p>
        </p:txBody>
      </p:sp>
      <p:sp>
        <p:nvSpPr>
          <p:cNvPr id="8" name="Text 5"/>
          <p:cNvSpPr/>
          <p:nvPr/>
        </p:nvSpPr>
        <p:spPr>
          <a:xfrm>
            <a:off x="789503" y="6921222"/>
            <a:ext cx="13051393" cy="721995"/>
          </a:xfrm>
          <a:prstGeom prst="rect">
            <a:avLst/>
          </a:prstGeom>
          <a:noFill/>
          <a:ln/>
        </p:spPr>
        <p:txBody>
          <a:bodyPr wrap="square" lIns="0" tIns="0" rIns="0" bIns="0" rtlCol="0" anchor="t"/>
          <a:lstStyle/>
          <a:p>
            <a:pPr algn="l" indent="0" marL="0">
              <a:lnSpc>
                <a:spcPts val="2800"/>
              </a:lnSpc>
              <a:buNone/>
            </a:pPr>
            <a:r>
              <a:rPr lang="en-US" sz="1750" dirty="0">
                <a:solidFill>
                  <a:srgbClr val="2B2E3C"/>
                </a:solidFill>
                <a:latin typeface="Open Sans" pitchFamily="34" charset="0"/>
                <a:ea typeface="Open Sans" pitchFamily="34" charset="-122"/>
                <a:cs typeface="Open Sans" pitchFamily="34" charset="-120"/>
              </a:rPr>
              <a:t>This dynamic feedback loop ensures the AI model constantly learns from real-world outcomes, improving its accuracy and relevance with every interaction.</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81420"/>
            <a:ext cx="6203871"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How the Chatbot Works</a:t>
            </a:r>
            <a:endParaRPr lang="en-US" sz="4450" dirty="0"/>
          </a:p>
        </p:txBody>
      </p:sp>
      <p:sp>
        <p:nvSpPr>
          <p:cNvPr id="3" name="Text 1"/>
          <p:cNvSpPr/>
          <p:nvPr/>
        </p:nvSpPr>
        <p:spPr>
          <a:xfrm>
            <a:off x="1970603" y="2111812"/>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User Input</a:t>
            </a:r>
            <a:endParaRPr lang="en-US" sz="2200" dirty="0"/>
          </a:p>
        </p:txBody>
      </p:sp>
      <p:sp>
        <p:nvSpPr>
          <p:cNvPr id="4" name="Text 2"/>
          <p:cNvSpPr/>
          <p:nvPr/>
        </p:nvSpPr>
        <p:spPr>
          <a:xfrm>
            <a:off x="793790" y="2602230"/>
            <a:ext cx="4012049" cy="725805"/>
          </a:xfrm>
          <a:prstGeom prst="rect">
            <a:avLst/>
          </a:prstGeom>
          <a:noFill/>
          <a:ln/>
        </p:spPr>
        <p:txBody>
          <a:bodyPr wrap="square" lIns="0" tIns="0" rIns="0" bIns="0" rtlCol="0" anchor="t"/>
          <a:lstStyle/>
          <a:p>
            <a:pPr algn="r" indent="0" marL="0">
              <a:lnSpc>
                <a:spcPts val="2850"/>
              </a:lnSpc>
              <a:buNone/>
            </a:pPr>
            <a:r>
              <a:rPr lang="en-US" sz="1750" dirty="0">
                <a:solidFill>
                  <a:srgbClr val="2B2E3C"/>
                </a:solidFill>
                <a:latin typeface="Open Sans" pitchFamily="34" charset="0"/>
                <a:ea typeface="Open Sans" pitchFamily="34" charset="-122"/>
                <a:cs typeface="Open Sans" pitchFamily="34" charset="-120"/>
              </a:rPr>
              <a:t>Farmers submit queries through text or voice in their preferred language</a:t>
            </a:r>
            <a:endParaRPr lang="en-US" sz="1750" dirty="0"/>
          </a:p>
        </p:txBody>
      </p:sp>
      <p:pic>
        <p:nvPicPr>
          <p:cNvPr id="5" name="Image 0" descr="preencoded.png">    </p:cNvPr>
          <p:cNvPicPr>
            <a:picLocks noChangeAspect="1"/>
          </p:cNvPicPr>
          <p:nvPr/>
        </p:nvPicPr>
        <p:blipFill>
          <a:blip r:embed="rId1"/>
          <a:stretch>
            <a:fillRect/>
          </a:stretch>
        </p:blipFill>
        <p:spPr>
          <a:xfrm>
            <a:off x="5032653" y="2356723"/>
            <a:ext cx="4564975" cy="4564975"/>
          </a:xfrm>
          <a:prstGeom prst="rect">
            <a:avLst/>
          </a:prstGeom>
        </p:spPr>
      </p:pic>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96301" y="2968943"/>
            <a:ext cx="339328" cy="339328"/>
          </a:xfrm>
          <a:prstGeom prst="rect">
            <a:avLst/>
          </a:prstGeom>
        </p:spPr>
      </p:pic>
      <p:sp>
        <p:nvSpPr>
          <p:cNvPr id="7" name="Text 3"/>
          <p:cNvSpPr/>
          <p:nvPr/>
        </p:nvSpPr>
        <p:spPr>
          <a:xfrm>
            <a:off x="9824442" y="1930360"/>
            <a:ext cx="3866078"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Natural Language Processing</a:t>
            </a:r>
            <a:endParaRPr lang="en-US" sz="2200" dirty="0"/>
          </a:p>
        </p:txBody>
      </p:sp>
      <p:sp>
        <p:nvSpPr>
          <p:cNvPr id="8" name="Text 4"/>
          <p:cNvSpPr/>
          <p:nvPr/>
        </p:nvSpPr>
        <p:spPr>
          <a:xfrm>
            <a:off x="9824442" y="2420779"/>
            <a:ext cx="4012168" cy="1088708"/>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Advanced NLP algorithms process and understand the farmer's question or concern</a:t>
            </a:r>
            <a:endParaRPr lang="en-US" sz="1750" dirty="0"/>
          </a:p>
        </p:txBody>
      </p:sp>
      <p:pic>
        <p:nvPicPr>
          <p:cNvPr id="9" name="Image 2" descr="preencoded.png">    </p:cNvPr>
          <p:cNvPicPr>
            <a:picLocks noChangeAspect="1"/>
          </p:cNvPicPr>
          <p:nvPr/>
        </p:nvPicPr>
        <p:blipFill>
          <a:blip r:embed="rId4"/>
          <a:stretch>
            <a:fillRect/>
          </a:stretch>
        </p:blipFill>
        <p:spPr>
          <a:xfrm>
            <a:off x="5032653" y="2356723"/>
            <a:ext cx="4564975" cy="4564975"/>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70307" y="3243620"/>
            <a:ext cx="339328" cy="339328"/>
          </a:xfrm>
          <a:prstGeom prst="rect">
            <a:avLst/>
          </a:prstGeom>
        </p:spPr>
      </p:pic>
      <p:sp>
        <p:nvSpPr>
          <p:cNvPr id="11" name="Text 5"/>
          <p:cNvSpPr/>
          <p:nvPr/>
        </p:nvSpPr>
        <p:spPr>
          <a:xfrm>
            <a:off x="10051256" y="3849648"/>
            <a:ext cx="3136106"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Knowledge Base Search</a:t>
            </a:r>
            <a:endParaRPr lang="en-US" sz="2200" dirty="0"/>
          </a:p>
        </p:txBody>
      </p:sp>
      <p:sp>
        <p:nvSpPr>
          <p:cNvPr id="12" name="Text 6"/>
          <p:cNvSpPr/>
          <p:nvPr/>
        </p:nvSpPr>
        <p:spPr>
          <a:xfrm>
            <a:off x="10051256" y="4340066"/>
            <a:ext cx="3785354" cy="1088708"/>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System searches through structured agricultural database for relevant information</a:t>
            </a:r>
            <a:endParaRPr lang="en-US" sz="1750" dirty="0"/>
          </a:p>
        </p:txBody>
      </p:sp>
      <p:pic>
        <p:nvPicPr>
          <p:cNvPr id="13" name="Image 4" descr="preencoded.png">    </p:cNvPr>
          <p:cNvPicPr>
            <a:picLocks noChangeAspect="1"/>
          </p:cNvPicPr>
          <p:nvPr/>
        </p:nvPicPr>
        <p:blipFill>
          <a:blip r:embed="rId7"/>
          <a:stretch>
            <a:fillRect/>
          </a:stretch>
        </p:blipFill>
        <p:spPr>
          <a:xfrm>
            <a:off x="5032653" y="2356723"/>
            <a:ext cx="4564975" cy="4564975"/>
          </a:xfrm>
          <a:prstGeom prst="rect">
            <a:avLst/>
          </a:prstGeom>
        </p:spPr>
      </p:pic>
      <p:pic>
        <p:nvPicPr>
          <p:cNvPr id="14"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19423" y="4744045"/>
            <a:ext cx="339328" cy="339328"/>
          </a:xfrm>
          <a:prstGeom prst="rect">
            <a:avLst/>
          </a:prstGeom>
        </p:spPr>
      </p:pic>
      <p:sp>
        <p:nvSpPr>
          <p:cNvPr id="15" name="Text 7"/>
          <p:cNvSpPr/>
          <p:nvPr/>
        </p:nvSpPr>
        <p:spPr>
          <a:xfrm>
            <a:off x="9824442" y="576893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AI Analysis</a:t>
            </a:r>
            <a:endParaRPr lang="en-US" sz="2200" dirty="0"/>
          </a:p>
        </p:txBody>
      </p:sp>
      <p:sp>
        <p:nvSpPr>
          <p:cNvPr id="16" name="Text 8"/>
          <p:cNvSpPr/>
          <p:nvPr/>
        </p:nvSpPr>
        <p:spPr>
          <a:xfrm>
            <a:off x="9824442" y="6259354"/>
            <a:ext cx="4012168" cy="1088708"/>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OpenAI API provides intelligent analysis and contextual understanding</a:t>
            </a:r>
            <a:endParaRPr lang="en-US" sz="1750" dirty="0"/>
          </a:p>
        </p:txBody>
      </p:sp>
      <p:pic>
        <p:nvPicPr>
          <p:cNvPr id="17" name="Image 6" descr="preencoded.png">    </p:cNvPr>
          <p:cNvPicPr>
            <a:picLocks noChangeAspect="1"/>
          </p:cNvPicPr>
          <p:nvPr/>
        </p:nvPicPr>
        <p:blipFill>
          <a:blip r:embed="rId10"/>
          <a:stretch>
            <a:fillRect/>
          </a:stretch>
        </p:blipFill>
        <p:spPr>
          <a:xfrm>
            <a:off x="5032653" y="2356723"/>
            <a:ext cx="4564975" cy="4564975"/>
          </a:xfrm>
          <a:prstGeom prst="rect">
            <a:avLst/>
          </a:prstGeom>
        </p:spPr>
      </p:pic>
      <p:pic>
        <p:nvPicPr>
          <p:cNvPr id="18"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94533" y="5969794"/>
            <a:ext cx="339328" cy="339328"/>
          </a:xfrm>
          <a:prstGeom prst="rect">
            <a:avLst/>
          </a:prstGeom>
        </p:spPr>
      </p:pic>
      <p:sp>
        <p:nvSpPr>
          <p:cNvPr id="19" name="Text 9"/>
          <p:cNvSpPr/>
          <p:nvPr/>
        </p:nvSpPr>
        <p:spPr>
          <a:xfrm>
            <a:off x="1966198" y="5768935"/>
            <a:ext cx="2839641" cy="354330"/>
          </a:xfrm>
          <a:prstGeom prst="rect">
            <a:avLst/>
          </a:prstGeom>
          <a:noFill/>
          <a:ln/>
        </p:spPr>
        <p:txBody>
          <a:bodyPr wrap="none" lIns="0" tIns="0" rIns="0" bIns="0" rtlCol="0" anchor="t"/>
          <a:lstStyle/>
          <a:p>
            <a:pPr algn="r"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Response Generation</a:t>
            </a:r>
            <a:endParaRPr lang="en-US" sz="2200" dirty="0"/>
          </a:p>
        </p:txBody>
      </p:sp>
      <p:sp>
        <p:nvSpPr>
          <p:cNvPr id="20" name="Text 10"/>
          <p:cNvSpPr/>
          <p:nvPr/>
        </p:nvSpPr>
        <p:spPr>
          <a:xfrm>
            <a:off x="793790" y="6259354"/>
            <a:ext cx="4012049" cy="1088708"/>
          </a:xfrm>
          <a:prstGeom prst="rect">
            <a:avLst/>
          </a:prstGeom>
          <a:noFill/>
          <a:ln/>
        </p:spPr>
        <p:txBody>
          <a:bodyPr wrap="square" lIns="0" tIns="0" rIns="0" bIns="0" rtlCol="0" anchor="t"/>
          <a:lstStyle/>
          <a:p>
            <a:pPr algn="r" indent="0" marL="0">
              <a:lnSpc>
                <a:spcPts val="2850"/>
              </a:lnSpc>
              <a:buNone/>
            </a:pPr>
            <a:r>
              <a:rPr lang="en-US" sz="1750" dirty="0">
                <a:solidFill>
                  <a:srgbClr val="2B2E3C"/>
                </a:solidFill>
                <a:latin typeface="Open Sans" pitchFamily="34" charset="0"/>
                <a:ea typeface="Open Sans" pitchFamily="34" charset="-122"/>
                <a:cs typeface="Open Sans" pitchFamily="34" charset="-120"/>
              </a:rPr>
              <a:t>Tailored advice and recommendations are generated based on the specific query</a:t>
            </a:r>
            <a:endParaRPr lang="en-US" sz="1750" dirty="0"/>
          </a:p>
        </p:txBody>
      </p:sp>
      <p:pic>
        <p:nvPicPr>
          <p:cNvPr id="21" name="Image 8" descr="preencoded.png">    </p:cNvPr>
          <p:cNvPicPr>
            <a:picLocks noChangeAspect="1"/>
          </p:cNvPicPr>
          <p:nvPr/>
        </p:nvPicPr>
        <p:blipFill>
          <a:blip r:embed="rId13"/>
          <a:stretch>
            <a:fillRect/>
          </a:stretch>
        </p:blipFill>
        <p:spPr>
          <a:xfrm>
            <a:off x="5032653" y="2356723"/>
            <a:ext cx="4564975" cy="4564975"/>
          </a:xfrm>
          <a:prstGeom prst="rect">
            <a:avLst/>
          </a:prstGeom>
        </p:spPr>
      </p:pic>
      <p:pic>
        <p:nvPicPr>
          <p:cNvPr id="22" name="Image 9"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120527" y="5695117"/>
            <a:ext cx="339328" cy="339328"/>
          </a:xfrm>
          <a:prstGeom prst="rect">
            <a:avLst/>
          </a:prstGeom>
        </p:spPr>
      </p:pic>
      <p:sp>
        <p:nvSpPr>
          <p:cNvPr id="23" name="Text 11"/>
          <p:cNvSpPr/>
          <p:nvPr/>
        </p:nvSpPr>
        <p:spPr>
          <a:xfrm>
            <a:off x="1529953" y="3849648"/>
            <a:ext cx="3049072" cy="354330"/>
          </a:xfrm>
          <a:prstGeom prst="rect">
            <a:avLst/>
          </a:prstGeom>
          <a:noFill/>
          <a:ln/>
        </p:spPr>
        <p:txBody>
          <a:bodyPr wrap="none" lIns="0" tIns="0" rIns="0" bIns="0" rtlCol="0" anchor="t"/>
          <a:lstStyle/>
          <a:p>
            <a:pPr algn="r" indent="0" marL="0">
              <a:lnSpc>
                <a:spcPts val="2750"/>
              </a:lnSpc>
              <a:buNone/>
            </a:pPr>
            <a:r>
              <a:rPr lang="en-US" sz="2200" dirty="0">
                <a:solidFill>
                  <a:srgbClr val="2B2E3C"/>
                </a:solidFill>
                <a:latin typeface="Bitter Medium" pitchFamily="34" charset="0"/>
                <a:ea typeface="Bitter Medium" pitchFamily="34" charset="-122"/>
                <a:cs typeface="Bitter Medium" pitchFamily="34" charset="-120"/>
              </a:rPr>
              <a:t>Multi-language Output</a:t>
            </a:r>
            <a:endParaRPr lang="en-US" sz="2200" dirty="0"/>
          </a:p>
        </p:txBody>
      </p:sp>
      <p:sp>
        <p:nvSpPr>
          <p:cNvPr id="24" name="Text 12"/>
          <p:cNvSpPr/>
          <p:nvPr/>
        </p:nvSpPr>
        <p:spPr>
          <a:xfrm>
            <a:off x="793790" y="4340066"/>
            <a:ext cx="3785235" cy="1088708"/>
          </a:xfrm>
          <a:prstGeom prst="rect">
            <a:avLst/>
          </a:prstGeom>
          <a:noFill/>
          <a:ln/>
        </p:spPr>
        <p:txBody>
          <a:bodyPr wrap="square" lIns="0" tIns="0" rIns="0" bIns="0" rtlCol="0" anchor="t"/>
          <a:lstStyle/>
          <a:p>
            <a:pPr algn="r" indent="0" marL="0">
              <a:lnSpc>
                <a:spcPts val="2850"/>
              </a:lnSpc>
              <a:buNone/>
            </a:pPr>
            <a:r>
              <a:rPr lang="en-US" sz="1750" dirty="0">
                <a:solidFill>
                  <a:srgbClr val="2B2E3C"/>
                </a:solidFill>
                <a:latin typeface="Open Sans" pitchFamily="34" charset="0"/>
                <a:ea typeface="Open Sans" pitchFamily="34" charset="-122"/>
                <a:cs typeface="Open Sans" pitchFamily="34" charset="-120"/>
              </a:rPr>
              <a:t>Response is translated and delivered in the farmer's preferred language</a:t>
            </a:r>
            <a:endParaRPr lang="en-US" sz="1750" dirty="0"/>
          </a:p>
        </p:txBody>
      </p:sp>
      <p:pic>
        <p:nvPicPr>
          <p:cNvPr id="25" name="Image 10" descr="preencoded.png">    </p:cNvPr>
          <p:cNvPicPr>
            <a:picLocks noChangeAspect="1"/>
          </p:cNvPicPr>
          <p:nvPr/>
        </p:nvPicPr>
        <p:blipFill>
          <a:blip r:embed="rId16"/>
          <a:stretch>
            <a:fillRect/>
          </a:stretch>
        </p:blipFill>
        <p:spPr>
          <a:xfrm>
            <a:off x="5032653" y="2356723"/>
            <a:ext cx="4564975" cy="4564975"/>
          </a:xfrm>
          <a:prstGeom prst="rect">
            <a:avLst/>
          </a:prstGeom>
        </p:spPr>
      </p:pic>
      <p:pic>
        <p:nvPicPr>
          <p:cNvPr id="26" name="Image 11"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571411" y="4194691"/>
            <a:ext cx="339328" cy="3393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82241" y="614601"/>
            <a:ext cx="9341406" cy="698421"/>
          </a:xfrm>
          <a:prstGeom prst="rect">
            <a:avLst/>
          </a:prstGeom>
          <a:noFill/>
          <a:ln/>
        </p:spPr>
        <p:txBody>
          <a:bodyPr wrap="none" lIns="0" tIns="0" rIns="0" bIns="0" rtlCol="0" anchor="t"/>
          <a:lstStyle/>
          <a:p>
            <a:pPr algn="l" indent="0" marL="0">
              <a:lnSpc>
                <a:spcPts val="5450"/>
              </a:lnSpc>
              <a:buNone/>
            </a:pPr>
            <a:r>
              <a:rPr lang="en-US" sz="4350" dirty="0">
                <a:solidFill>
                  <a:srgbClr val="2C3F42"/>
                </a:solidFill>
                <a:latin typeface="Bitter Medium" pitchFamily="34" charset="0"/>
                <a:ea typeface="Bitter Medium" pitchFamily="34" charset="-122"/>
                <a:cs typeface="Bitter Medium" pitchFamily="34" charset="-120"/>
              </a:rPr>
              <a:t>The Future of Farming with AgroBot</a:t>
            </a:r>
            <a:endParaRPr lang="en-US" sz="4350" dirty="0"/>
          </a:p>
        </p:txBody>
      </p:sp>
      <p:sp>
        <p:nvSpPr>
          <p:cNvPr id="3" name="Text 1"/>
          <p:cNvSpPr/>
          <p:nvPr/>
        </p:nvSpPr>
        <p:spPr>
          <a:xfrm>
            <a:off x="782241" y="1849279"/>
            <a:ext cx="6260306" cy="1072634"/>
          </a:xfrm>
          <a:prstGeom prst="rect">
            <a:avLst/>
          </a:prstGeom>
          <a:noFill/>
          <a:ln/>
        </p:spPr>
        <p:txBody>
          <a:bodyPr wrap="square" lIns="0" tIns="0" rIns="0" bIns="0" rtlCol="0" anchor="t"/>
          <a:lstStyle/>
          <a:p>
            <a:pPr algn="l" marL="342900" indent="-342900">
              <a:lnSpc>
                <a:spcPts val="2800"/>
              </a:lnSpc>
              <a:buSzPct val="100000"/>
              <a:buChar char="•"/>
            </a:pPr>
            <a:r>
              <a:rPr lang="en-US" sz="1750" b="1" dirty="0">
                <a:solidFill>
                  <a:srgbClr val="2B2E3C"/>
                </a:solidFill>
                <a:latin typeface="Open Sans" pitchFamily="34" charset="0"/>
                <a:ea typeface="Open Sans" pitchFamily="34" charset="-122"/>
                <a:cs typeface="Open Sans" pitchFamily="34" charset="-120"/>
              </a:rPr>
              <a:t>Adaptable AI:</a:t>
            </a:r>
            <a:pPr algn="l" indent="0" marL="0">
              <a:lnSpc>
                <a:spcPts val="2800"/>
              </a:lnSpc>
              <a:buNone/>
            </a:pPr>
            <a:r>
              <a:rPr lang="en-US" sz="1750" dirty="0">
                <a:solidFill>
                  <a:srgbClr val="2B2E3C"/>
                </a:solidFill>
                <a:latin typeface="Open Sans" pitchFamily="34" charset="0"/>
                <a:ea typeface="Open Sans" pitchFamily="34" charset="-122"/>
                <a:cs typeface="Open Sans" pitchFamily="34" charset="-120"/>
              </a:rPr>
              <a:t> Our continuous learning AI framework adapts rapidly to emerging crops, novel diseases, and innovative farming methods.</a:t>
            </a:r>
            <a:endParaRPr lang="en-US" sz="1750" dirty="0"/>
          </a:p>
        </p:txBody>
      </p:sp>
      <p:sp>
        <p:nvSpPr>
          <p:cNvPr id="4" name="Text 2"/>
          <p:cNvSpPr/>
          <p:nvPr/>
        </p:nvSpPr>
        <p:spPr>
          <a:xfrm>
            <a:off x="782241" y="3000137"/>
            <a:ext cx="6260306" cy="1430179"/>
          </a:xfrm>
          <a:prstGeom prst="rect">
            <a:avLst/>
          </a:prstGeom>
          <a:noFill/>
          <a:ln/>
        </p:spPr>
        <p:txBody>
          <a:bodyPr wrap="square" lIns="0" tIns="0" rIns="0" bIns="0" rtlCol="0" anchor="t"/>
          <a:lstStyle/>
          <a:p>
            <a:pPr algn="l" marL="342900" indent="-342900">
              <a:lnSpc>
                <a:spcPts val="2800"/>
              </a:lnSpc>
              <a:buSzPct val="100000"/>
              <a:buChar char="•"/>
            </a:pPr>
            <a:r>
              <a:rPr lang="en-US" sz="1750" b="1" dirty="0">
                <a:solidFill>
                  <a:srgbClr val="2B2E3C"/>
                </a:solidFill>
                <a:latin typeface="Open Sans" pitchFamily="34" charset="0"/>
                <a:ea typeface="Open Sans" pitchFamily="34" charset="-122"/>
                <a:cs typeface="Open Sans" pitchFamily="34" charset="-120"/>
              </a:rPr>
              <a:t>Automation Potential:</a:t>
            </a:r>
            <a:pPr algn="l" indent="0" marL="0">
              <a:lnSpc>
                <a:spcPts val="2800"/>
              </a:lnSpc>
              <a:buNone/>
            </a:pPr>
            <a:r>
              <a:rPr lang="en-US" sz="1750" dirty="0">
                <a:solidFill>
                  <a:srgbClr val="2B2E3C"/>
                </a:solidFill>
                <a:latin typeface="Open Sans" pitchFamily="34" charset="0"/>
                <a:ea typeface="Open Sans" pitchFamily="34" charset="-122"/>
                <a:cs typeface="Open Sans" pitchFamily="34" charset="-120"/>
              </a:rPr>
              <a:t> Future integration capabilities with autonomous farm robots, drones, and IoT sensors promise a pathway toward fully automated, hyper-efficient farming operations.</a:t>
            </a:r>
            <a:endParaRPr lang="en-US" sz="1750" dirty="0"/>
          </a:p>
        </p:txBody>
      </p:sp>
      <p:sp>
        <p:nvSpPr>
          <p:cNvPr id="5" name="Text 3"/>
          <p:cNvSpPr/>
          <p:nvPr/>
        </p:nvSpPr>
        <p:spPr>
          <a:xfrm>
            <a:off x="782241" y="4508540"/>
            <a:ext cx="6260306" cy="1430179"/>
          </a:xfrm>
          <a:prstGeom prst="rect">
            <a:avLst/>
          </a:prstGeom>
          <a:noFill/>
          <a:ln/>
        </p:spPr>
        <p:txBody>
          <a:bodyPr wrap="square" lIns="0" tIns="0" rIns="0" bIns="0" rtlCol="0" anchor="t"/>
          <a:lstStyle/>
          <a:p>
            <a:pPr algn="l" marL="342900" indent="-342900">
              <a:lnSpc>
                <a:spcPts val="2800"/>
              </a:lnSpc>
              <a:buSzPct val="100000"/>
              <a:buChar char="•"/>
            </a:pPr>
            <a:r>
              <a:rPr lang="en-US" sz="1750" b="1" dirty="0">
                <a:solidFill>
                  <a:srgbClr val="2B2E3C"/>
                </a:solidFill>
                <a:latin typeface="Open Sans" pitchFamily="34" charset="0"/>
                <a:ea typeface="Open Sans" pitchFamily="34" charset="-122"/>
                <a:cs typeface="Open Sans" pitchFamily="34" charset="-120"/>
              </a:rPr>
              <a:t>Sustainability Driver:</a:t>
            </a:r>
            <a:pPr algn="l" indent="0" marL="0">
              <a:lnSpc>
                <a:spcPts val="2800"/>
              </a:lnSpc>
              <a:buNone/>
            </a:pPr>
            <a:r>
              <a:rPr lang="en-US" sz="1750" dirty="0">
                <a:solidFill>
                  <a:srgbClr val="2B2E3C"/>
                </a:solidFill>
                <a:latin typeface="Open Sans" pitchFamily="34" charset="0"/>
                <a:ea typeface="Open Sans" pitchFamily="34" charset="-122"/>
                <a:cs typeface="Open Sans" pitchFamily="34" charset="-120"/>
              </a:rPr>
              <a:t> By promoting resource efficiency and smart interventions, AgroBot is actively driving sustainable agriculture to feed a growing world while safeguarding the planet's ecosystems.</a:t>
            </a:r>
            <a:endParaRPr lang="en-US" sz="1750" dirty="0"/>
          </a:p>
        </p:txBody>
      </p:sp>
      <p:pic>
        <p:nvPicPr>
          <p:cNvPr id="6" name="Image 0" descr="preencoded.png">    </p:cNvPr>
          <p:cNvPicPr>
            <a:picLocks noChangeAspect="1"/>
          </p:cNvPicPr>
          <p:nvPr/>
        </p:nvPicPr>
        <p:blipFill>
          <a:blip r:embed="rId1"/>
          <a:stretch>
            <a:fillRect/>
          </a:stretch>
        </p:blipFill>
        <p:spPr>
          <a:xfrm>
            <a:off x="7603093" y="1860233"/>
            <a:ext cx="3033236" cy="2682121"/>
          </a:xfrm>
          <a:prstGeom prst="rect">
            <a:avLst/>
          </a:prstGeom>
        </p:spPr>
      </p:pic>
      <p:pic>
        <p:nvPicPr>
          <p:cNvPr id="7" name="Image 1" descr="preencoded.png">    </p:cNvPr>
          <p:cNvPicPr>
            <a:picLocks noChangeAspect="1"/>
          </p:cNvPicPr>
          <p:nvPr/>
        </p:nvPicPr>
        <p:blipFill>
          <a:blip r:embed="rId2"/>
          <a:stretch>
            <a:fillRect/>
          </a:stretch>
        </p:blipFill>
        <p:spPr>
          <a:xfrm>
            <a:off x="10815042" y="1860233"/>
            <a:ext cx="3033236" cy="2682121"/>
          </a:xfrm>
          <a:prstGeom prst="rect">
            <a:avLst/>
          </a:prstGeom>
        </p:spPr>
      </p:pic>
      <p:pic>
        <p:nvPicPr>
          <p:cNvPr id="8" name="Image 2" descr="preencoded.png">    </p:cNvPr>
          <p:cNvPicPr>
            <a:picLocks noChangeAspect="1"/>
          </p:cNvPicPr>
          <p:nvPr/>
        </p:nvPicPr>
        <p:blipFill>
          <a:blip r:embed="rId3"/>
          <a:stretch>
            <a:fillRect/>
          </a:stretch>
        </p:blipFill>
        <p:spPr>
          <a:xfrm>
            <a:off x="7603093" y="4721066"/>
            <a:ext cx="6245066" cy="268212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75799" y="594836"/>
            <a:ext cx="12757785" cy="603409"/>
          </a:xfrm>
          <a:prstGeom prst="rect">
            <a:avLst/>
          </a:prstGeom>
          <a:noFill/>
          <a:ln/>
        </p:spPr>
        <p:txBody>
          <a:bodyPr wrap="none" lIns="0" tIns="0" rIns="0" bIns="0" rtlCol="0" anchor="t"/>
          <a:lstStyle/>
          <a:p>
            <a:pPr algn="l" indent="0" marL="0">
              <a:lnSpc>
                <a:spcPts val="4750"/>
              </a:lnSpc>
              <a:buNone/>
            </a:pPr>
            <a:r>
              <a:rPr lang="en-US" sz="3800" dirty="0">
                <a:solidFill>
                  <a:srgbClr val="2C3F42"/>
                </a:solidFill>
                <a:latin typeface="Bitter Medium" pitchFamily="34" charset="0"/>
                <a:ea typeface="Bitter Medium" pitchFamily="34" charset="-122"/>
                <a:cs typeface="Bitter Medium" pitchFamily="34" charset="-120"/>
              </a:rPr>
              <a:t>AgroBot's Roadmap: Future Enhancements for Efficiency</a:t>
            </a:r>
            <a:endParaRPr lang="en-US" sz="38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5799" y="1584365"/>
            <a:ext cx="482679" cy="482679"/>
          </a:xfrm>
          <a:prstGeom prst="rect">
            <a:avLst/>
          </a:prstGeom>
        </p:spPr>
      </p:pic>
      <p:sp>
        <p:nvSpPr>
          <p:cNvPr id="4" name="Text 1"/>
          <p:cNvSpPr/>
          <p:nvPr/>
        </p:nvSpPr>
        <p:spPr>
          <a:xfrm>
            <a:off x="675799" y="2308384"/>
            <a:ext cx="2413754" cy="301585"/>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IoT Integration</a:t>
            </a:r>
            <a:endParaRPr lang="en-US" sz="1900" dirty="0"/>
          </a:p>
        </p:txBody>
      </p:sp>
      <p:sp>
        <p:nvSpPr>
          <p:cNvPr id="5" name="Text 2"/>
          <p:cNvSpPr/>
          <p:nvPr/>
        </p:nvSpPr>
        <p:spPr>
          <a:xfrm>
            <a:off x="675799" y="2725817"/>
            <a:ext cx="6518672" cy="617934"/>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Connects with smart sensors and weather stations for real-time data to enable proactive decision-making.</a:t>
            </a:r>
            <a:endParaRPr lang="en-US" sz="15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5810" y="1584365"/>
            <a:ext cx="482679" cy="482679"/>
          </a:xfrm>
          <a:prstGeom prst="rect">
            <a:avLst/>
          </a:prstGeom>
        </p:spPr>
      </p:pic>
      <p:sp>
        <p:nvSpPr>
          <p:cNvPr id="7" name="Text 3"/>
          <p:cNvSpPr/>
          <p:nvPr/>
        </p:nvSpPr>
        <p:spPr>
          <a:xfrm>
            <a:off x="7435810" y="2308384"/>
            <a:ext cx="2413754" cy="301585"/>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ML Enhancement</a:t>
            </a:r>
            <a:endParaRPr lang="en-US" sz="1900" dirty="0"/>
          </a:p>
        </p:txBody>
      </p:sp>
      <p:sp>
        <p:nvSpPr>
          <p:cNvPr id="8" name="Text 4"/>
          <p:cNvSpPr/>
          <p:nvPr/>
        </p:nvSpPr>
        <p:spPr>
          <a:xfrm>
            <a:off x="7435810" y="2725817"/>
            <a:ext cx="6518791" cy="617934"/>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Continuously evolving algorithms improve accuracy in predictions and recommendations through advanced learning.</a:t>
            </a:r>
            <a:endParaRPr lang="en-US" sz="15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5799" y="3729871"/>
            <a:ext cx="482679" cy="482679"/>
          </a:xfrm>
          <a:prstGeom prst="rect">
            <a:avLst/>
          </a:prstGeom>
        </p:spPr>
      </p:pic>
      <p:sp>
        <p:nvSpPr>
          <p:cNvPr id="10" name="Text 5"/>
          <p:cNvSpPr/>
          <p:nvPr/>
        </p:nvSpPr>
        <p:spPr>
          <a:xfrm>
            <a:off x="675799" y="4453890"/>
            <a:ext cx="2832021" cy="301585"/>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Mobile App Development</a:t>
            </a:r>
            <a:endParaRPr lang="en-US" sz="1900" dirty="0"/>
          </a:p>
        </p:txBody>
      </p:sp>
      <p:sp>
        <p:nvSpPr>
          <p:cNvPr id="11" name="Text 6"/>
          <p:cNvSpPr/>
          <p:nvPr/>
        </p:nvSpPr>
        <p:spPr>
          <a:xfrm>
            <a:off x="675799" y="4871323"/>
            <a:ext cx="6518672" cy="617934"/>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Dedicated native iOS and Android applications for seamless on-the-go access and enhanced user experience.</a:t>
            </a:r>
            <a:endParaRPr lang="en-US" sz="15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5810" y="3729871"/>
            <a:ext cx="482679" cy="482679"/>
          </a:xfrm>
          <a:prstGeom prst="rect">
            <a:avLst/>
          </a:prstGeom>
        </p:spPr>
      </p:pic>
      <p:sp>
        <p:nvSpPr>
          <p:cNvPr id="13" name="Text 7"/>
          <p:cNvSpPr/>
          <p:nvPr/>
        </p:nvSpPr>
        <p:spPr>
          <a:xfrm>
            <a:off x="7435810" y="4453890"/>
            <a:ext cx="2413754" cy="301585"/>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Drone Integration</a:t>
            </a:r>
            <a:endParaRPr lang="en-US" sz="1900" dirty="0"/>
          </a:p>
        </p:txBody>
      </p:sp>
      <p:sp>
        <p:nvSpPr>
          <p:cNvPr id="14" name="Text 8"/>
          <p:cNvSpPr/>
          <p:nvPr/>
        </p:nvSpPr>
        <p:spPr>
          <a:xfrm>
            <a:off x="7435810" y="4871323"/>
            <a:ext cx="6518791" cy="617934"/>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High-resolution aerial imagery and data for comprehensive crop health assessment and detailed field mapping.</a:t>
            </a:r>
            <a:endParaRPr lang="en-US" sz="15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5799" y="5875377"/>
            <a:ext cx="482679" cy="482679"/>
          </a:xfrm>
          <a:prstGeom prst="rect">
            <a:avLst/>
          </a:prstGeom>
        </p:spPr>
      </p:pic>
      <p:sp>
        <p:nvSpPr>
          <p:cNvPr id="16" name="Text 9"/>
          <p:cNvSpPr/>
          <p:nvPr/>
        </p:nvSpPr>
        <p:spPr>
          <a:xfrm>
            <a:off x="675799" y="6599396"/>
            <a:ext cx="3149203" cy="301585"/>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Blockchain Implementation</a:t>
            </a:r>
            <a:endParaRPr lang="en-US" sz="1900" dirty="0"/>
          </a:p>
        </p:txBody>
      </p:sp>
      <p:sp>
        <p:nvSpPr>
          <p:cNvPr id="17" name="Text 10"/>
          <p:cNvSpPr/>
          <p:nvPr/>
        </p:nvSpPr>
        <p:spPr>
          <a:xfrm>
            <a:off x="675799" y="7016829"/>
            <a:ext cx="6518672" cy="617934"/>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Ensures verifiable, transparent tracking of produce from farm to table, building trust and efficiency.</a:t>
            </a:r>
            <a:endParaRPr lang="en-US" sz="150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35810" y="5875377"/>
            <a:ext cx="482679" cy="482679"/>
          </a:xfrm>
          <a:prstGeom prst="rect">
            <a:avLst/>
          </a:prstGeom>
        </p:spPr>
      </p:pic>
      <p:sp>
        <p:nvSpPr>
          <p:cNvPr id="19" name="Text 11"/>
          <p:cNvSpPr/>
          <p:nvPr/>
        </p:nvSpPr>
        <p:spPr>
          <a:xfrm>
            <a:off x="7435810" y="6599396"/>
            <a:ext cx="3059192" cy="301585"/>
          </a:xfrm>
          <a:prstGeom prst="rect">
            <a:avLst/>
          </a:prstGeom>
          <a:noFill/>
          <a:ln/>
        </p:spPr>
        <p:txBody>
          <a:bodyPr wrap="none" lIns="0" tIns="0" rIns="0" bIns="0" rtlCol="0" anchor="t"/>
          <a:lstStyle/>
          <a:p>
            <a:pPr algn="l" indent="0" marL="0">
              <a:lnSpc>
                <a:spcPts val="2350"/>
              </a:lnSpc>
              <a:buNone/>
            </a:pPr>
            <a:r>
              <a:rPr lang="en-US" sz="1900" dirty="0">
                <a:solidFill>
                  <a:srgbClr val="2B2E3C"/>
                </a:solidFill>
                <a:latin typeface="Bitter Medium" pitchFamily="34" charset="0"/>
                <a:ea typeface="Bitter Medium" pitchFamily="34" charset="-122"/>
                <a:cs typeface="Bitter Medium" pitchFamily="34" charset="-120"/>
              </a:rPr>
              <a:t>Advanced Computer Vision</a:t>
            </a:r>
            <a:endParaRPr lang="en-US" sz="1900" dirty="0"/>
          </a:p>
        </p:txBody>
      </p:sp>
      <p:sp>
        <p:nvSpPr>
          <p:cNvPr id="20" name="Text 12"/>
          <p:cNvSpPr/>
          <p:nvPr/>
        </p:nvSpPr>
        <p:spPr>
          <a:xfrm>
            <a:off x="7435810" y="7016829"/>
            <a:ext cx="6518791" cy="617934"/>
          </a:xfrm>
          <a:prstGeom prst="rect">
            <a:avLst/>
          </a:prstGeom>
          <a:noFill/>
          <a:ln/>
        </p:spPr>
        <p:txBody>
          <a:bodyPr wrap="square" lIns="0" tIns="0" rIns="0" bIns="0" rtlCol="0" anchor="t"/>
          <a:lstStyle/>
          <a:p>
            <a:pPr algn="l" indent="0" marL="0">
              <a:lnSpc>
                <a:spcPts val="2400"/>
              </a:lnSpc>
              <a:buNone/>
            </a:pPr>
            <a:r>
              <a:rPr lang="en-US" sz="1500" dirty="0">
                <a:solidFill>
                  <a:srgbClr val="2B2E3C"/>
                </a:solidFill>
                <a:latin typeface="Open Sans" pitchFamily="34" charset="0"/>
                <a:ea typeface="Open Sans" pitchFamily="34" charset="-122"/>
                <a:cs typeface="Open Sans" pitchFamily="34" charset="-120"/>
              </a:rPr>
              <a:t>Next-gen visual analytics for earlier, more precise identification of plant diseases and pests.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12708" y="559951"/>
            <a:ext cx="5090874" cy="636389"/>
          </a:xfrm>
          <a:prstGeom prst="rect">
            <a:avLst/>
          </a:prstGeom>
          <a:noFill/>
          <a:ln/>
        </p:spPr>
        <p:txBody>
          <a:bodyPr wrap="none" lIns="0" tIns="0" rIns="0" bIns="0" rtlCol="0" anchor="t"/>
          <a:lstStyle/>
          <a:p>
            <a:pPr algn="l" indent="0" marL="0">
              <a:lnSpc>
                <a:spcPts val="5000"/>
              </a:lnSpc>
              <a:buNone/>
            </a:pPr>
            <a:r>
              <a:rPr lang="en-US" sz="4000" dirty="0">
                <a:solidFill>
                  <a:srgbClr val="2C3F42"/>
                </a:solidFill>
                <a:latin typeface="Bitter Medium" pitchFamily="34" charset="0"/>
                <a:ea typeface="Bitter Medium" pitchFamily="34" charset="-122"/>
                <a:cs typeface="Bitter Medium" pitchFamily="34" charset="-120"/>
              </a:rPr>
              <a:t>Conclusion</a:t>
            </a:r>
            <a:endParaRPr lang="en-US" sz="4000" dirty="0"/>
          </a:p>
        </p:txBody>
      </p:sp>
      <p:sp>
        <p:nvSpPr>
          <p:cNvPr id="3" name="Shape 1"/>
          <p:cNvSpPr/>
          <p:nvPr/>
        </p:nvSpPr>
        <p:spPr>
          <a:xfrm>
            <a:off x="712708" y="1603534"/>
            <a:ext cx="4265890" cy="2654379"/>
          </a:xfrm>
          <a:prstGeom prst="roundRect">
            <a:avLst>
              <a:gd name="adj" fmla="val 3222"/>
            </a:avLst>
          </a:prstGeom>
          <a:solidFill>
            <a:srgbClr val="FCE2CF"/>
          </a:solidFill>
          <a:ln w="7620">
            <a:solidFill>
              <a:srgbClr val="E2C8B5"/>
            </a:solidFill>
            <a:prstDash val="solid"/>
          </a:ln>
        </p:spPr>
      </p:sp>
      <p:sp>
        <p:nvSpPr>
          <p:cNvPr id="4" name="Shape 2"/>
          <p:cNvSpPr/>
          <p:nvPr/>
        </p:nvSpPr>
        <p:spPr>
          <a:xfrm>
            <a:off x="923925" y="1814751"/>
            <a:ext cx="610791" cy="610791"/>
          </a:xfrm>
          <a:prstGeom prst="roundRect">
            <a:avLst>
              <a:gd name="adj" fmla="val 14969254"/>
            </a:avLst>
          </a:prstGeom>
          <a:solidFill>
            <a:srgbClr val="D2600F"/>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91922" y="1982748"/>
            <a:ext cx="274796" cy="274796"/>
          </a:xfrm>
          <a:prstGeom prst="rect">
            <a:avLst/>
          </a:prstGeom>
        </p:spPr>
      </p:pic>
      <p:sp>
        <p:nvSpPr>
          <p:cNvPr id="6" name="Text 3"/>
          <p:cNvSpPr/>
          <p:nvPr/>
        </p:nvSpPr>
        <p:spPr>
          <a:xfrm>
            <a:off x="923925" y="2629138"/>
            <a:ext cx="2545437" cy="318135"/>
          </a:xfrm>
          <a:prstGeom prst="rect">
            <a:avLst/>
          </a:prstGeom>
          <a:noFill/>
          <a:ln/>
        </p:spPr>
        <p:txBody>
          <a:bodyPr wrap="none" lIns="0" tIns="0" rIns="0" bIns="0" rtlCol="0" anchor="t"/>
          <a:lstStyle/>
          <a:p>
            <a:pPr algn="l" indent="0" marL="0">
              <a:lnSpc>
                <a:spcPts val="2500"/>
              </a:lnSpc>
              <a:buNone/>
            </a:pPr>
            <a:r>
              <a:rPr lang="en-US" sz="2000" dirty="0">
                <a:solidFill>
                  <a:srgbClr val="2B2E3C"/>
                </a:solidFill>
                <a:latin typeface="Bitter Medium" pitchFamily="34" charset="0"/>
                <a:ea typeface="Bitter Medium" pitchFamily="34" charset="-122"/>
                <a:cs typeface="Bitter Medium" pitchFamily="34" charset="-120"/>
              </a:rPr>
              <a:t>AI Revolution</a:t>
            </a:r>
            <a:endParaRPr lang="en-US" sz="2000" dirty="0"/>
          </a:p>
        </p:txBody>
      </p:sp>
      <p:sp>
        <p:nvSpPr>
          <p:cNvPr id="7" name="Text 4"/>
          <p:cNvSpPr/>
          <p:nvPr/>
        </p:nvSpPr>
        <p:spPr>
          <a:xfrm>
            <a:off x="923925" y="3069431"/>
            <a:ext cx="3843457" cy="977265"/>
          </a:xfrm>
          <a:prstGeom prst="rect">
            <a:avLst/>
          </a:prstGeom>
          <a:noFill/>
          <a:ln/>
        </p:spPr>
        <p:txBody>
          <a:bodyPr wrap="square" lIns="0" tIns="0" rIns="0" bIns="0" rtlCol="0" anchor="t"/>
          <a:lstStyle/>
          <a:p>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Transforming agriculture with intelligent, accessible AI solutions for every farmer.</a:t>
            </a:r>
            <a:endParaRPr lang="en-US" sz="1600" dirty="0"/>
          </a:p>
        </p:txBody>
      </p:sp>
      <p:sp>
        <p:nvSpPr>
          <p:cNvPr id="8" name="Shape 5"/>
          <p:cNvSpPr/>
          <p:nvPr/>
        </p:nvSpPr>
        <p:spPr>
          <a:xfrm>
            <a:off x="5182195" y="1603534"/>
            <a:ext cx="4265890" cy="2654379"/>
          </a:xfrm>
          <a:prstGeom prst="roundRect">
            <a:avLst>
              <a:gd name="adj" fmla="val 3222"/>
            </a:avLst>
          </a:prstGeom>
          <a:solidFill>
            <a:srgbClr val="FCE2CF"/>
          </a:solidFill>
          <a:ln w="7620">
            <a:solidFill>
              <a:srgbClr val="E2C8B5"/>
            </a:solidFill>
            <a:prstDash val="solid"/>
          </a:ln>
        </p:spPr>
      </p:sp>
      <p:sp>
        <p:nvSpPr>
          <p:cNvPr id="9" name="Shape 6"/>
          <p:cNvSpPr/>
          <p:nvPr/>
        </p:nvSpPr>
        <p:spPr>
          <a:xfrm>
            <a:off x="5393412" y="1814751"/>
            <a:ext cx="610791" cy="610791"/>
          </a:xfrm>
          <a:prstGeom prst="roundRect">
            <a:avLst>
              <a:gd name="adj" fmla="val 14969254"/>
            </a:avLst>
          </a:prstGeom>
          <a:solidFill>
            <a:srgbClr val="D2600F"/>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1409" y="1982748"/>
            <a:ext cx="274796" cy="274796"/>
          </a:xfrm>
          <a:prstGeom prst="rect">
            <a:avLst/>
          </a:prstGeom>
        </p:spPr>
      </p:pic>
      <p:sp>
        <p:nvSpPr>
          <p:cNvPr id="11" name="Text 7"/>
          <p:cNvSpPr/>
          <p:nvPr/>
        </p:nvSpPr>
        <p:spPr>
          <a:xfrm>
            <a:off x="5393412" y="2629138"/>
            <a:ext cx="2957155" cy="318135"/>
          </a:xfrm>
          <a:prstGeom prst="rect">
            <a:avLst/>
          </a:prstGeom>
          <a:noFill/>
          <a:ln/>
        </p:spPr>
        <p:txBody>
          <a:bodyPr wrap="none" lIns="0" tIns="0" rIns="0" bIns="0" rtlCol="0" anchor="t"/>
          <a:lstStyle/>
          <a:p>
            <a:pPr algn="l" indent="0" marL="0">
              <a:lnSpc>
                <a:spcPts val="2500"/>
              </a:lnSpc>
              <a:buNone/>
            </a:pPr>
            <a:r>
              <a:rPr lang="en-US" sz="2000" dirty="0">
                <a:solidFill>
                  <a:srgbClr val="2B2E3C"/>
                </a:solidFill>
                <a:latin typeface="Bitter Medium" pitchFamily="34" charset="0"/>
                <a:ea typeface="Bitter Medium" pitchFamily="34" charset="-122"/>
                <a:cs typeface="Bitter Medium" pitchFamily="34" charset="-120"/>
              </a:rPr>
              <a:t>Comprehensive Features</a:t>
            </a:r>
            <a:endParaRPr lang="en-US" sz="2000" dirty="0"/>
          </a:p>
        </p:txBody>
      </p:sp>
      <p:sp>
        <p:nvSpPr>
          <p:cNvPr id="12" name="Text 8"/>
          <p:cNvSpPr/>
          <p:nvPr/>
        </p:nvSpPr>
        <p:spPr>
          <a:xfrm>
            <a:off x="5393412" y="3069431"/>
            <a:ext cx="3843457" cy="977265"/>
          </a:xfrm>
          <a:prstGeom prst="rect">
            <a:avLst/>
          </a:prstGeom>
          <a:noFill/>
          <a:ln/>
        </p:spPr>
        <p:txBody>
          <a:bodyPr wrap="square" lIns="0" tIns="0" rIns="0" bIns="0" rtlCol="0" anchor="t"/>
          <a:lstStyle/>
          <a:p>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From instant plant identification to disease diagnosis and multilingual support, all in one app.</a:t>
            </a:r>
            <a:endParaRPr lang="en-US" sz="1600" dirty="0"/>
          </a:p>
        </p:txBody>
      </p:sp>
      <p:sp>
        <p:nvSpPr>
          <p:cNvPr id="13" name="Shape 9"/>
          <p:cNvSpPr/>
          <p:nvPr/>
        </p:nvSpPr>
        <p:spPr>
          <a:xfrm>
            <a:off x="9651683" y="1603534"/>
            <a:ext cx="4266009" cy="2654379"/>
          </a:xfrm>
          <a:prstGeom prst="roundRect">
            <a:avLst>
              <a:gd name="adj" fmla="val 3222"/>
            </a:avLst>
          </a:prstGeom>
          <a:solidFill>
            <a:srgbClr val="FCE2CF"/>
          </a:solidFill>
          <a:ln w="7620">
            <a:solidFill>
              <a:srgbClr val="E2C8B5"/>
            </a:solidFill>
            <a:prstDash val="solid"/>
          </a:ln>
        </p:spPr>
      </p:sp>
      <p:sp>
        <p:nvSpPr>
          <p:cNvPr id="14" name="Shape 10"/>
          <p:cNvSpPr/>
          <p:nvPr/>
        </p:nvSpPr>
        <p:spPr>
          <a:xfrm>
            <a:off x="9862899" y="1814751"/>
            <a:ext cx="610791" cy="610791"/>
          </a:xfrm>
          <a:prstGeom prst="roundRect">
            <a:avLst>
              <a:gd name="adj" fmla="val 14969254"/>
            </a:avLst>
          </a:prstGeom>
          <a:solidFill>
            <a:srgbClr val="D2600F"/>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30897" y="1982748"/>
            <a:ext cx="274796" cy="274796"/>
          </a:xfrm>
          <a:prstGeom prst="rect">
            <a:avLst/>
          </a:prstGeom>
        </p:spPr>
      </p:pic>
      <p:sp>
        <p:nvSpPr>
          <p:cNvPr id="16" name="Text 11"/>
          <p:cNvSpPr/>
          <p:nvPr/>
        </p:nvSpPr>
        <p:spPr>
          <a:xfrm>
            <a:off x="9862899" y="2629138"/>
            <a:ext cx="2545437" cy="318135"/>
          </a:xfrm>
          <a:prstGeom prst="rect">
            <a:avLst/>
          </a:prstGeom>
          <a:noFill/>
          <a:ln/>
        </p:spPr>
        <p:txBody>
          <a:bodyPr wrap="none" lIns="0" tIns="0" rIns="0" bIns="0" rtlCol="0" anchor="t"/>
          <a:lstStyle/>
          <a:p>
            <a:pPr algn="l" indent="0" marL="0">
              <a:lnSpc>
                <a:spcPts val="2500"/>
              </a:lnSpc>
              <a:buNone/>
            </a:pPr>
            <a:r>
              <a:rPr lang="en-US" sz="2000" dirty="0">
                <a:solidFill>
                  <a:srgbClr val="2B2E3C"/>
                </a:solidFill>
                <a:latin typeface="Bitter Medium" pitchFamily="34" charset="0"/>
                <a:ea typeface="Bitter Medium" pitchFamily="34" charset="-122"/>
                <a:cs typeface="Bitter Medium" pitchFamily="34" charset="-120"/>
              </a:rPr>
              <a:t>Robust Technology</a:t>
            </a:r>
            <a:endParaRPr lang="en-US" sz="2000" dirty="0"/>
          </a:p>
        </p:txBody>
      </p:sp>
      <p:sp>
        <p:nvSpPr>
          <p:cNvPr id="17" name="Text 12"/>
          <p:cNvSpPr/>
          <p:nvPr/>
        </p:nvSpPr>
        <p:spPr>
          <a:xfrm>
            <a:off x="9862899" y="3069431"/>
            <a:ext cx="3843576" cy="977265"/>
          </a:xfrm>
          <a:prstGeom prst="rect">
            <a:avLst/>
          </a:prstGeom>
          <a:noFill/>
          <a:ln/>
        </p:spPr>
        <p:txBody>
          <a:bodyPr wrap="square" lIns="0" tIns="0" rIns="0" bIns="0" rtlCol="0" anchor="t"/>
          <a:lstStyle/>
          <a:p>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Built on Python, OpenAI, and a powerful knowledge base for reliable, real-time insights.</a:t>
            </a:r>
            <a:endParaRPr lang="en-US" sz="1600" dirty="0"/>
          </a:p>
        </p:txBody>
      </p:sp>
      <p:sp>
        <p:nvSpPr>
          <p:cNvPr id="18" name="Shape 13"/>
          <p:cNvSpPr/>
          <p:nvPr/>
        </p:nvSpPr>
        <p:spPr>
          <a:xfrm>
            <a:off x="712708" y="4461510"/>
            <a:ext cx="6500693" cy="2328624"/>
          </a:xfrm>
          <a:prstGeom prst="roundRect">
            <a:avLst>
              <a:gd name="adj" fmla="val 3673"/>
            </a:avLst>
          </a:prstGeom>
          <a:solidFill>
            <a:srgbClr val="FCE2CF"/>
          </a:solidFill>
          <a:ln w="7620">
            <a:solidFill>
              <a:srgbClr val="E2C8B5"/>
            </a:solidFill>
            <a:prstDash val="solid"/>
          </a:ln>
        </p:spPr>
      </p:sp>
      <p:sp>
        <p:nvSpPr>
          <p:cNvPr id="19" name="Shape 14"/>
          <p:cNvSpPr/>
          <p:nvPr/>
        </p:nvSpPr>
        <p:spPr>
          <a:xfrm>
            <a:off x="923925" y="4672727"/>
            <a:ext cx="610791" cy="610791"/>
          </a:xfrm>
          <a:prstGeom prst="roundRect">
            <a:avLst>
              <a:gd name="adj" fmla="val 14969254"/>
            </a:avLst>
          </a:prstGeom>
          <a:solidFill>
            <a:srgbClr val="D2600F"/>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1922" y="4840724"/>
            <a:ext cx="274796" cy="274796"/>
          </a:xfrm>
          <a:prstGeom prst="rect">
            <a:avLst/>
          </a:prstGeom>
        </p:spPr>
      </p:pic>
      <p:sp>
        <p:nvSpPr>
          <p:cNvPr id="21" name="Text 15"/>
          <p:cNvSpPr/>
          <p:nvPr/>
        </p:nvSpPr>
        <p:spPr>
          <a:xfrm>
            <a:off x="923925" y="5487114"/>
            <a:ext cx="2545437" cy="318135"/>
          </a:xfrm>
          <a:prstGeom prst="rect">
            <a:avLst/>
          </a:prstGeom>
          <a:noFill/>
          <a:ln/>
        </p:spPr>
        <p:txBody>
          <a:bodyPr wrap="none" lIns="0" tIns="0" rIns="0" bIns="0" rtlCol="0" anchor="t"/>
          <a:lstStyle/>
          <a:p>
            <a:pPr algn="l" indent="0" marL="0">
              <a:lnSpc>
                <a:spcPts val="2500"/>
              </a:lnSpc>
              <a:buNone/>
            </a:pPr>
            <a:r>
              <a:rPr lang="en-US" sz="2000" dirty="0">
                <a:solidFill>
                  <a:srgbClr val="2B2E3C"/>
                </a:solidFill>
                <a:latin typeface="Bitter Medium" pitchFamily="34" charset="0"/>
                <a:ea typeface="Bitter Medium" pitchFamily="34" charset="-122"/>
                <a:cs typeface="Bitter Medium" pitchFamily="34" charset="-120"/>
              </a:rPr>
              <a:t>Real-World Impact</a:t>
            </a:r>
            <a:endParaRPr lang="en-US" sz="2000" dirty="0"/>
          </a:p>
        </p:txBody>
      </p:sp>
      <p:sp>
        <p:nvSpPr>
          <p:cNvPr id="22" name="Text 16"/>
          <p:cNvSpPr/>
          <p:nvPr/>
        </p:nvSpPr>
        <p:spPr>
          <a:xfrm>
            <a:off x="923925" y="5927408"/>
            <a:ext cx="6078260" cy="651510"/>
          </a:xfrm>
          <a:prstGeom prst="rect">
            <a:avLst/>
          </a:prstGeom>
          <a:noFill/>
          <a:ln/>
        </p:spPr>
        <p:txBody>
          <a:bodyPr wrap="square" lIns="0" tIns="0" rIns="0" bIns="0" rtlCol="0" anchor="t"/>
          <a:lstStyle/>
          <a:p>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Proven to boost yields, reduce losses, and significantly lower operational costs for farmers.</a:t>
            </a:r>
            <a:endParaRPr lang="en-US" sz="1600" dirty="0"/>
          </a:p>
        </p:txBody>
      </p:sp>
      <p:sp>
        <p:nvSpPr>
          <p:cNvPr id="23" name="Shape 17"/>
          <p:cNvSpPr/>
          <p:nvPr/>
        </p:nvSpPr>
        <p:spPr>
          <a:xfrm>
            <a:off x="7416998" y="4461510"/>
            <a:ext cx="6500693" cy="2328624"/>
          </a:xfrm>
          <a:prstGeom prst="roundRect">
            <a:avLst>
              <a:gd name="adj" fmla="val 3673"/>
            </a:avLst>
          </a:prstGeom>
          <a:solidFill>
            <a:srgbClr val="FCE2CF"/>
          </a:solidFill>
          <a:ln w="7620">
            <a:solidFill>
              <a:srgbClr val="E2C8B5"/>
            </a:solidFill>
            <a:prstDash val="solid"/>
          </a:ln>
        </p:spPr>
      </p:sp>
      <p:sp>
        <p:nvSpPr>
          <p:cNvPr id="24" name="Shape 18"/>
          <p:cNvSpPr/>
          <p:nvPr/>
        </p:nvSpPr>
        <p:spPr>
          <a:xfrm>
            <a:off x="7628215" y="4672727"/>
            <a:ext cx="610791" cy="610791"/>
          </a:xfrm>
          <a:prstGeom prst="roundRect">
            <a:avLst>
              <a:gd name="adj" fmla="val 14969254"/>
            </a:avLst>
          </a:prstGeom>
          <a:solidFill>
            <a:srgbClr val="D2600F"/>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96212" y="4840724"/>
            <a:ext cx="274796" cy="274796"/>
          </a:xfrm>
          <a:prstGeom prst="rect">
            <a:avLst/>
          </a:prstGeom>
        </p:spPr>
      </p:pic>
      <p:sp>
        <p:nvSpPr>
          <p:cNvPr id="26" name="Text 19"/>
          <p:cNvSpPr/>
          <p:nvPr/>
        </p:nvSpPr>
        <p:spPr>
          <a:xfrm>
            <a:off x="7628215" y="5487114"/>
            <a:ext cx="2545437" cy="318135"/>
          </a:xfrm>
          <a:prstGeom prst="rect">
            <a:avLst/>
          </a:prstGeom>
          <a:noFill/>
          <a:ln/>
        </p:spPr>
        <p:txBody>
          <a:bodyPr wrap="none" lIns="0" tIns="0" rIns="0" bIns="0" rtlCol="0" anchor="t"/>
          <a:lstStyle/>
          <a:p>
            <a:pPr algn="l" indent="0" marL="0">
              <a:lnSpc>
                <a:spcPts val="2500"/>
              </a:lnSpc>
              <a:buNone/>
            </a:pPr>
            <a:r>
              <a:rPr lang="en-US" sz="2000" dirty="0">
                <a:solidFill>
                  <a:srgbClr val="2B2E3C"/>
                </a:solidFill>
                <a:latin typeface="Bitter Medium" pitchFamily="34" charset="0"/>
                <a:ea typeface="Bitter Medium" pitchFamily="34" charset="-122"/>
                <a:cs typeface="Bitter Medium" pitchFamily="34" charset="-120"/>
              </a:rPr>
              <a:t>Promising Future</a:t>
            </a:r>
            <a:endParaRPr lang="en-US" sz="2000" dirty="0"/>
          </a:p>
        </p:txBody>
      </p:sp>
      <p:sp>
        <p:nvSpPr>
          <p:cNvPr id="27" name="Text 20"/>
          <p:cNvSpPr/>
          <p:nvPr/>
        </p:nvSpPr>
        <p:spPr>
          <a:xfrm>
            <a:off x="7628215" y="5927408"/>
            <a:ext cx="6078260" cy="651510"/>
          </a:xfrm>
          <a:prstGeom prst="rect">
            <a:avLst/>
          </a:prstGeom>
          <a:noFill/>
          <a:ln/>
        </p:spPr>
        <p:txBody>
          <a:bodyPr wrap="square" lIns="0" tIns="0" rIns="0" bIns="0" rtlCol="0" anchor="t"/>
          <a:lstStyle/>
          <a:p>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Continuous innovation with IoT, advanced ML, and drone integration for hyper-efficiency.</a:t>
            </a:r>
            <a:endParaRPr lang="en-US" sz="1600" dirty="0"/>
          </a:p>
        </p:txBody>
      </p:sp>
      <p:sp>
        <p:nvSpPr>
          <p:cNvPr id="28" name="Text 21"/>
          <p:cNvSpPr/>
          <p:nvPr/>
        </p:nvSpPr>
        <p:spPr>
          <a:xfrm>
            <a:off x="712708" y="7019211"/>
            <a:ext cx="13204984" cy="651510"/>
          </a:xfrm>
          <a:prstGeom prst="rect">
            <a:avLst/>
          </a:prstGeom>
          <a:noFill/>
          <a:ln/>
        </p:spPr>
        <p:txBody>
          <a:bodyPr wrap="square" lIns="0" tIns="0" rIns="0" bIns="0" rtlCol="0" anchor="t"/>
          <a:lstStyle/>
          <a:p>
            <a:pPr algn="l" indent="0" marL="0">
              <a:lnSpc>
                <a:spcPts val="2550"/>
              </a:lnSpc>
              <a:buNone/>
            </a:pPr>
            <a:r>
              <a:rPr lang="en-US" sz="1600" dirty="0">
                <a:solidFill>
                  <a:srgbClr val="2B2E3C"/>
                </a:solidFill>
                <a:latin typeface="Open Sans" pitchFamily="34" charset="0"/>
                <a:ea typeface="Open Sans" pitchFamily="34" charset="-122"/>
                <a:cs typeface="Open Sans" pitchFamily="34" charset="-120"/>
              </a:rPr>
              <a:t>AgroBot stands as a beacon of innovation, empowering farmers worldwide to cultivate a more productive, efficient, and sustainable future for global food security.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1262"/>
          </a:xfrm>
          <a:prstGeom prst="rect">
            <a:avLst/>
          </a:prstGeom>
        </p:spPr>
      </p:pic>
      <p:sp>
        <p:nvSpPr>
          <p:cNvPr id="3" name="Text 0"/>
          <p:cNvSpPr/>
          <p:nvPr/>
        </p:nvSpPr>
        <p:spPr>
          <a:xfrm>
            <a:off x="694730" y="3028117"/>
            <a:ext cx="13240941" cy="3721894"/>
          </a:xfrm>
          <a:prstGeom prst="rect">
            <a:avLst/>
          </a:prstGeom>
          <a:noFill/>
          <a:ln/>
        </p:spPr>
        <p:txBody>
          <a:bodyPr wrap="square" lIns="0" tIns="0" rIns="0" bIns="0" rtlCol="0" anchor="t"/>
          <a:lstStyle/>
          <a:p>
            <a:pPr algn="l" indent="0" marL="0">
              <a:lnSpc>
                <a:spcPts val="14650"/>
              </a:lnSpc>
              <a:buNone/>
            </a:pPr>
            <a:r>
              <a:rPr lang="en-US" sz="11700" dirty="0">
                <a:solidFill>
                  <a:srgbClr val="2C3F42"/>
                </a:solidFill>
                <a:latin typeface="Bitter Medium" pitchFamily="34" charset="0"/>
                <a:ea typeface="Bitter Medium" pitchFamily="34" charset="-122"/>
                <a:cs typeface="Bitter Medium" pitchFamily="34" charset="-120"/>
              </a:rPr>
              <a:t>Cultivating Tomorrow</a:t>
            </a:r>
            <a:endParaRPr lang="en-US" sz="11700" dirty="0"/>
          </a:p>
        </p:txBody>
      </p:sp>
      <p:sp>
        <p:nvSpPr>
          <p:cNvPr id="4" name="Text 1"/>
          <p:cNvSpPr/>
          <p:nvPr/>
        </p:nvSpPr>
        <p:spPr>
          <a:xfrm>
            <a:off x="694730" y="7047667"/>
            <a:ext cx="13240941" cy="635079"/>
          </a:xfrm>
          <a:prstGeom prst="rect">
            <a:avLst/>
          </a:prstGeom>
          <a:noFill/>
          <a:ln/>
        </p:spPr>
        <p:txBody>
          <a:bodyPr wrap="square" lIns="0" tIns="0" rIns="0" bIns="0" rtlCol="0" anchor="t"/>
          <a:lstStyle/>
          <a:p>
            <a:pPr algn="l" indent="0" marL="0">
              <a:lnSpc>
                <a:spcPts val="2500"/>
              </a:lnSpc>
              <a:buNone/>
            </a:pPr>
            <a:r>
              <a:rPr lang="en-US" sz="1550" dirty="0">
                <a:solidFill>
                  <a:srgbClr val="2B2E3C"/>
                </a:solidFill>
                <a:latin typeface="Open Sans" pitchFamily="34" charset="0"/>
                <a:ea typeface="Open Sans" pitchFamily="34" charset="-122"/>
                <a:cs typeface="Open Sans" pitchFamily="34" charset="-120"/>
              </a:rPr>
              <a:t>AgroBot Universal is more than an assistant—it's the future of agriculture, combining human expertise with artificial intelligence to ensure food security and sustainability for generations to come. Join us in cultivating a smarter, greener tomorrow.</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49031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Thank You!</a:t>
            </a:r>
            <a:endParaRPr lang="en-US" sz="4450" dirty="0"/>
          </a:p>
        </p:txBody>
      </p:sp>
      <p:sp>
        <p:nvSpPr>
          <p:cNvPr id="4" name="Text 1"/>
          <p:cNvSpPr/>
          <p:nvPr/>
        </p:nvSpPr>
        <p:spPr>
          <a:xfrm>
            <a:off x="793790" y="3539252"/>
            <a:ext cx="7556421" cy="453509"/>
          </a:xfrm>
          <a:prstGeom prst="rect">
            <a:avLst/>
          </a:prstGeom>
          <a:noFill/>
          <a:ln/>
        </p:spPr>
        <p:txBody>
          <a:bodyPr wrap="none" lIns="0" tIns="0" rIns="0" bIns="0" rtlCol="0" anchor="t"/>
          <a:lstStyle/>
          <a:p>
            <a:pPr algn="l" indent="0" marL="0">
              <a:lnSpc>
                <a:spcPts val="3550"/>
              </a:lnSpc>
              <a:buNone/>
            </a:pPr>
            <a:r>
              <a:rPr lang="en-US" sz="2200" dirty="0">
                <a:solidFill>
                  <a:srgbClr val="2B2E3C"/>
                </a:solidFill>
                <a:latin typeface="Open Sans" pitchFamily="34" charset="0"/>
                <a:ea typeface="Open Sans" pitchFamily="34" charset="-122"/>
                <a:cs typeface="Open Sans" pitchFamily="34" charset="-120"/>
              </a:rPr>
              <a:t>We sincerely appreciate your time and attention today.</a:t>
            </a:r>
            <a:endParaRPr lang="en-US" sz="2200" dirty="0"/>
          </a:p>
        </p:txBody>
      </p:sp>
      <p:sp>
        <p:nvSpPr>
          <p:cNvPr id="5" name="Text 2"/>
          <p:cNvSpPr/>
          <p:nvPr/>
        </p:nvSpPr>
        <p:spPr>
          <a:xfrm>
            <a:off x="793790" y="4247912"/>
            <a:ext cx="7556421" cy="725805"/>
          </a:xfrm>
          <a:prstGeom prst="rect">
            <a:avLst/>
          </a:prstGeom>
          <a:noFill/>
          <a:ln/>
        </p:spPr>
        <p:txBody>
          <a:bodyPr wrap="square" lIns="0" tIns="0" rIns="0" bIns="0" rtlCol="0" anchor="t"/>
          <a:lstStyle/>
          <a:p>
            <a:pPr algn="l" indent="0" marL="0">
              <a:lnSpc>
                <a:spcPts val="2850"/>
              </a:lnSpc>
              <a:buNone/>
            </a:pPr>
            <a:endParaRPr lang="en-US" sz="1750" dirty="0"/>
          </a:p>
        </p:txBody>
      </p:sp>
      <p:sp>
        <p:nvSpPr>
          <p:cNvPr id="6" name="Text 3"/>
          <p:cNvSpPr/>
          <p:nvPr/>
        </p:nvSpPr>
        <p:spPr>
          <a:xfrm>
            <a:off x="793790" y="5313878"/>
            <a:ext cx="3402330" cy="425291"/>
          </a:xfrm>
          <a:prstGeom prst="rect">
            <a:avLst/>
          </a:prstGeom>
          <a:noFill/>
          <a:ln/>
        </p:spPr>
        <p:txBody>
          <a:bodyPr wrap="none" lIns="0" tIns="0" rIns="0" bIns="0" rtlCol="0" anchor="t"/>
          <a:lstStyle/>
          <a:p>
            <a:pPr algn="l" indent="0" marL="0">
              <a:lnSpc>
                <a:spcPts val="3300"/>
              </a:lnSpc>
              <a:buNone/>
            </a:pPr>
            <a:endParaRPr lang="en-US" sz="2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2025-11-21T14:43:26Z</dcterms:created>
  <dcterms:modified xsi:type="dcterms:W3CDTF">2025-11-21T14:43:26Z</dcterms:modified>
</cp:coreProperties>
</file>